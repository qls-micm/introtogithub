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87"/>
  </p:notesMasterIdLst>
  <p:sldIdLst>
    <p:sldId id="316" r:id="rId2"/>
    <p:sldId id="317" r:id="rId3"/>
    <p:sldId id="318" r:id="rId4"/>
    <p:sldId id="369" r:id="rId5"/>
    <p:sldId id="332" r:id="rId6"/>
    <p:sldId id="319" r:id="rId7"/>
    <p:sldId id="320" r:id="rId8"/>
    <p:sldId id="419" r:id="rId9"/>
    <p:sldId id="381" r:id="rId10"/>
    <p:sldId id="422" r:id="rId11"/>
    <p:sldId id="417" r:id="rId12"/>
    <p:sldId id="327" r:id="rId13"/>
    <p:sldId id="423" r:id="rId14"/>
    <p:sldId id="321" r:id="rId15"/>
    <p:sldId id="353" r:id="rId16"/>
    <p:sldId id="420" r:id="rId17"/>
    <p:sldId id="354" r:id="rId18"/>
    <p:sldId id="322" r:id="rId19"/>
    <p:sldId id="341" r:id="rId20"/>
    <p:sldId id="357" r:id="rId21"/>
    <p:sldId id="371" r:id="rId22"/>
    <p:sldId id="333" r:id="rId23"/>
    <p:sldId id="372" r:id="rId24"/>
    <p:sldId id="344" r:id="rId25"/>
    <p:sldId id="373" r:id="rId26"/>
    <p:sldId id="334" r:id="rId27"/>
    <p:sldId id="323" r:id="rId28"/>
    <p:sldId id="352" r:id="rId29"/>
    <p:sldId id="355" r:id="rId30"/>
    <p:sldId id="335" r:id="rId31"/>
    <p:sldId id="374" r:id="rId32"/>
    <p:sldId id="325" r:id="rId33"/>
    <p:sldId id="356" r:id="rId34"/>
    <p:sldId id="337" r:id="rId35"/>
    <p:sldId id="375" r:id="rId36"/>
    <p:sldId id="338" r:id="rId37"/>
    <p:sldId id="426" r:id="rId38"/>
    <p:sldId id="425" r:id="rId39"/>
    <p:sldId id="424" r:id="rId40"/>
    <p:sldId id="362" r:id="rId41"/>
    <p:sldId id="345" r:id="rId42"/>
    <p:sldId id="376" r:id="rId43"/>
    <p:sldId id="364" r:id="rId44"/>
    <p:sldId id="363" r:id="rId45"/>
    <p:sldId id="324" r:id="rId46"/>
    <p:sldId id="368" r:id="rId47"/>
    <p:sldId id="328" r:id="rId48"/>
    <p:sldId id="326" r:id="rId49"/>
    <p:sldId id="402" r:id="rId50"/>
    <p:sldId id="403" r:id="rId51"/>
    <p:sldId id="346" r:id="rId52"/>
    <p:sldId id="377" r:id="rId53"/>
    <p:sldId id="347" r:id="rId54"/>
    <p:sldId id="378" r:id="rId55"/>
    <p:sldId id="358" r:id="rId56"/>
    <p:sldId id="404" r:id="rId57"/>
    <p:sldId id="348" r:id="rId58"/>
    <p:sldId id="379" r:id="rId59"/>
    <p:sldId id="414" r:id="rId60"/>
    <p:sldId id="415" r:id="rId61"/>
    <p:sldId id="401" r:id="rId62"/>
    <p:sldId id="406" r:id="rId63"/>
    <p:sldId id="359" r:id="rId64"/>
    <p:sldId id="405" r:id="rId65"/>
    <p:sldId id="350" r:id="rId66"/>
    <p:sldId id="380" r:id="rId67"/>
    <p:sldId id="367" r:id="rId68"/>
    <p:sldId id="410" r:id="rId69"/>
    <p:sldId id="391" r:id="rId70"/>
    <p:sldId id="382" r:id="rId71"/>
    <p:sldId id="407" r:id="rId72"/>
    <p:sldId id="383" r:id="rId73"/>
    <p:sldId id="392" r:id="rId74"/>
    <p:sldId id="384" r:id="rId75"/>
    <p:sldId id="385" r:id="rId76"/>
    <p:sldId id="386" r:id="rId77"/>
    <p:sldId id="388" r:id="rId78"/>
    <p:sldId id="393" r:id="rId79"/>
    <p:sldId id="390" r:id="rId80"/>
    <p:sldId id="394" r:id="rId81"/>
    <p:sldId id="329" r:id="rId82"/>
    <p:sldId id="330" r:id="rId83"/>
    <p:sldId id="331" r:id="rId84"/>
    <p:sldId id="421" r:id="rId85"/>
    <p:sldId id="342" r:id="rId86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B0A0"/>
    <a:srgbClr val="72B0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33159D-BD55-4850-BF2D-D8FBB1361ACF}" v="36" dt="2026-09-21T16:42:42.4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04" autoAdjust="0"/>
    <p:restoredTop sz="95260" autoAdjust="0"/>
  </p:normalViewPr>
  <p:slideViewPr>
    <p:cSldViewPr snapToGrid="0" snapToObjects="1">
      <p:cViewPr varScale="1">
        <p:scale>
          <a:sx n="111" d="100"/>
          <a:sy n="111" d="100"/>
        </p:scale>
        <p:origin x="1518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microsoft.com/office/2016/11/relationships/changesInfo" Target="changesInfos/changesInfo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Huang" userId="3b01fa70-91e3-4d29-852b-56bc423b811b" providerId="ADAL" clId="{2BF4BDDA-F1A4-44EE-95EA-21AFC6EDF82F}"/>
    <pc:docChg chg="undo custSel addSld delSld modSld">
      <pc:chgData name="Eric Huang" userId="3b01fa70-91e3-4d29-852b-56bc423b811b" providerId="ADAL" clId="{2BF4BDDA-F1A4-44EE-95EA-21AFC6EDF82F}" dt="2026-09-21T16:42:42.407" v="2776" actId="20577"/>
      <pc:docMkLst>
        <pc:docMk/>
      </pc:docMkLst>
      <pc:sldChg chg="modSp mod">
        <pc:chgData name="Eric Huang" userId="3b01fa70-91e3-4d29-852b-56bc423b811b" providerId="ADAL" clId="{2BF4BDDA-F1A4-44EE-95EA-21AFC6EDF82F}" dt="2026-09-21T15:30:21.226" v="2701" actId="20577"/>
        <pc:sldMkLst>
          <pc:docMk/>
          <pc:sldMk cId="2389275097" sldId="316"/>
        </pc:sldMkLst>
        <pc:spChg chg="mod">
          <ac:chgData name="Eric Huang" userId="3b01fa70-91e3-4d29-852b-56bc423b811b" providerId="ADAL" clId="{2BF4BDDA-F1A4-44EE-95EA-21AFC6EDF82F}" dt="2026-09-21T15:30:21.226" v="2701" actId="20577"/>
          <ac:spMkLst>
            <pc:docMk/>
            <pc:sldMk cId="2389275097" sldId="316"/>
            <ac:spMk id="3" creationId="{E7537085-13D1-FBF7-FC22-14EA9C5F5578}"/>
          </ac:spMkLst>
        </pc:spChg>
      </pc:sldChg>
      <pc:sldChg chg="delSp modSp mod modAnim">
        <pc:chgData name="Eric Huang" userId="3b01fa70-91e3-4d29-852b-56bc423b811b" providerId="ADAL" clId="{2BF4BDDA-F1A4-44EE-95EA-21AFC6EDF82F}" dt="2026-09-21T16:35:47.407" v="2722" actId="478"/>
        <pc:sldMkLst>
          <pc:docMk/>
          <pc:sldMk cId="2209846115" sldId="338"/>
        </pc:sldMkLst>
        <pc:spChg chg="mod">
          <ac:chgData name="Eric Huang" userId="3b01fa70-91e3-4d29-852b-56bc423b811b" providerId="ADAL" clId="{2BF4BDDA-F1A4-44EE-95EA-21AFC6EDF82F}" dt="2026-09-21T16:35:39.871" v="2718" actId="1036"/>
          <ac:spMkLst>
            <pc:docMk/>
            <pc:sldMk cId="2209846115" sldId="338"/>
            <ac:spMk id="15" creationId="{DF1D212D-D57A-6288-056C-CB6CDEDC3C92}"/>
          </ac:spMkLst>
        </pc:spChg>
        <pc:spChg chg="del">
          <ac:chgData name="Eric Huang" userId="3b01fa70-91e3-4d29-852b-56bc423b811b" providerId="ADAL" clId="{2BF4BDDA-F1A4-44EE-95EA-21AFC6EDF82F}" dt="2026-09-21T16:35:36.837" v="2708" actId="478"/>
          <ac:spMkLst>
            <pc:docMk/>
            <pc:sldMk cId="2209846115" sldId="338"/>
            <ac:spMk id="18" creationId="{1613281B-8113-9487-9C79-9DF26C91CB96}"/>
          </ac:spMkLst>
        </pc:spChg>
        <pc:spChg chg="del">
          <ac:chgData name="Eric Huang" userId="3b01fa70-91e3-4d29-852b-56bc423b811b" providerId="ADAL" clId="{2BF4BDDA-F1A4-44EE-95EA-21AFC6EDF82F}" dt="2026-09-21T16:35:42.365" v="2719" actId="478"/>
          <ac:spMkLst>
            <pc:docMk/>
            <pc:sldMk cId="2209846115" sldId="338"/>
            <ac:spMk id="19" creationId="{F6BB5A0B-BC5C-E442-9063-B99E7446667B}"/>
          </ac:spMkLst>
        </pc:spChg>
        <pc:spChg chg="del">
          <ac:chgData name="Eric Huang" userId="3b01fa70-91e3-4d29-852b-56bc423b811b" providerId="ADAL" clId="{2BF4BDDA-F1A4-44EE-95EA-21AFC6EDF82F}" dt="2026-09-21T16:35:44.145" v="2720" actId="478"/>
          <ac:spMkLst>
            <pc:docMk/>
            <pc:sldMk cId="2209846115" sldId="338"/>
            <ac:spMk id="28" creationId="{4784692F-2F03-22AB-E104-B49B3B9D5442}"/>
          </ac:spMkLst>
        </pc:spChg>
        <pc:cxnChg chg="del mod">
          <ac:chgData name="Eric Huang" userId="3b01fa70-91e3-4d29-852b-56bc423b811b" providerId="ADAL" clId="{2BF4BDDA-F1A4-44EE-95EA-21AFC6EDF82F}" dt="2026-09-21T16:35:45.972" v="2721" actId="478"/>
          <ac:cxnSpMkLst>
            <pc:docMk/>
            <pc:sldMk cId="2209846115" sldId="338"/>
            <ac:cxnSpMk id="20" creationId="{9BD6F78C-8910-1110-F11E-4A9319F45E9E}"/>
          </ac:cxnSpMkLst>
        </pc:cxnChg>
        <pc:cxnChg chg="del mod">
          <ac:chgData name="Eric Huang" userId="3b01fa70-91e3-4d29-852b-56bc423b811b" providerId="ADAL" clId="{2BF4BDDA-F1A4-44EE-95EA-21AFC6EDF82F}" dt="2026-09-21T16:35:47.407" v="2722" actId="478"/>
          <ac:cxnSpMkLst>
            <pc:docMk/>
            <pc:sldMk cId="2209846115" sldId="338"/>
            <ac:cxnSpMk id="21" creationId="{AAC45847-195B-CE42-5589-B239965E542C}"/>
          </ac:cxnSpMkLst>
        </pc:cxnChg>
      </pc:sldChg>
      <pc:sldChg chg="modSp mod">
        <pc:chgData name="Eric Huang" userId="3b01fa70-91e3-4d29-852b-56bc423b811b" providerId="ADAL" clId="{2BF4BDDA-F1A4-44EE-95EA-21AFC6EDF82F}" dt="2026-09-21T16:39:01.611" v="2755" actId="20577"/>
        <pc:sldMkLst>
          <pc:docMk/>
          <pc:sldMk cId="4007831989" sldId="350"/>
        </pc:sldMkLst>
        <pc:spChg chg="mod">
          <ac:chgData name="Eric Huang" userId="3b01fa70-91e3-4d29-852b-56bc423b811b" providerId="ADAL" clId="{2BF4BDDA-F1A4-44EE-95EA-21AFC6EDF82F}" dt="2026-09-21T16:39:01.611" v="2755" actId="20577"/>
          <ac:spMkLst>
            <pc:docMk/>
            <pc:sldMk cId="4007831989" sldId="350"/>
            <ac:spMk id="2" creationId="{F30F071A-0450-8F6E-F28D-8124D7A90523}"/>
          </ac:spMkLst>
        </pc:spChg>
      </pc:sldChg>
      <pc:sldChg chg="modSp modAnim">
        <pc:chgData name="Eric Huang" userId="3b01fa70-91e3-4d29-852b-56bc423b811b" providerId="ADAL" clId="{2BF4BDDA-F1A4-44EE-95EA-21AFC6EDF82F}" dt="2026-09-21T16:42:42.407" v="2776" actId="20577"/>
        <pc:sldMkLst>
          <pc:docMk/>
          <pc:sldMk cId="1411733175" sldId="380"/>
        </pc:sldMkLst>
        <pc:spChg chg="mod">
          <ac:chgData name="Eric Huang" userId="3b01fa70-91e3-4d29-852b-56bc423b811b" providerId="ADAL" clId="{2BF4BDDA-F1A4-44EE-95EA-21AFC6EDF82F}" dt="2026-09-21T16:42:42.407" v="2776" actId="20577"/>
          <ac:spMkLst>
            <pc:docMk/>
            <pc:sldMk cId="1411733175" sldId="380"/>
            <ac:spMk id="2" creationId="{F30F071A-0450-8F6E-F28D-8124D7A90523}"/>
          </ac:spMkLst>
        </pc:spChg>
      </pc:sldChg>
      <pc:sldChg chg="mod modShow">
        <pc:chgData name="Eric Huang" userId="3b01fa70-91e3-4d29-852b-56bc423b811b" providerId="ADAL" clId="{2BF4BDDA-F1A4-44EE-95EA-21AFC6EDF82F}" dt="2026-09-21T16:38:16.476" v="2745" actId="729"/>
        <pc:sldMkLst>
          <pc:docMk/>
          <pc:sldMk cId="1071182491" sldId="401"/>
        </pc:sldMkLst>
      </pc:sldChg>
      <pc:sldChg chg="modSp">
        <pc:chgData name="Eric Huang" userId="3b01fa70-91e3-4d29-852b-56bc423b811b" providerId="ADAL" clId="{2BF4BDDA-F1A4-44EE-95EA-21AFC6EDF82F}" dt="2026-09-21T16:40:58.090" v="2771" actId="20577"/>
        <pc:sldMkLst>
          <pc:docMk/>
          <pc:sldMk cId="3096863422" sldId="406"/>
        </pc:sldMkLst>
        <pc:spChg chg="mod">
          <ac:chgData name="Eric Huang" userId="3b01fa70-91e3-4d29-852b-56bc423b811b" providerId="ADAL" clId="{2BF4BDDA-F1A4-44EE-95EA-21AFC6EDF82F}" dt="2026-09-21T16:40:58.090" v="2771" actId="20577"/>
          <ac:spMkLst>
            <pc:docMk/>
            <pc:sldMk cId="3096863422" sldId="406"/>
            <ac:spMk id="2" creationId="{B23CE1A8-4666-C14A-4847-394F06186EB9}"/>
          </ac:spMkLst>
        </pc:spChg>
      </pc:sldChg>
      <pc:sldChg chg="modSp">
        <pc:chgData name="Eric Huang" userId="3b01fa70-91e3-4d29-852b-56bc423b811b" providerId="ADAL" clId="{2BF4BDDA-F1A4-44EE-95EA-21AFC6EDF82F}" dt="2026-09-21T16:41:02.463" v="2774" actId="20577"/>
        <pc:sldMkLst>
          <pc:docMk/>
          <pc:sldMk cId="1686466894" sldId="414"/>
        </pc:sldMkLst>
        <pc:spChg chg="mod">
          <ac:chgData name="Eric Huang" userId="3b01fa70-91e3-4d29-852b-56bc423b811b" providerId="ADAL" clId="{2BF4BDDA-F1A4-44EE-95EA-21AFC6EDF82F}" dt="2026-09-21T16:41:02.463" v="2774" actId="20577"/>
          <ac:spMkLst>
            <pc:docMk/>
            <pc:sldMk cId="1686466894" sldId="414"/>
            <ac:spMk id="2" creationId="{343751EF-D081-B173-BEF1-BAD54401CDA4}"/>
          </ac:spMkLst>
        </pc:spChg>
      </pc:sldChg>
      <pc:sldChg chg="mod modShow">
        <pc:chgData name="Eric Huang" userId="3b01fa70-91e3-4d29-852b-56bc423b811b" providerId="ADAL" clId="{2BF4BDDA-F1A4-44EE-95EA-21AFC6EDF82F}" dt="2026-09-21T16:38:16.476" v="2745" actId="729"/>
        <pc:sldMkLst>
          <pc:docMk/>
          <pc:sldMk cId="3592577252" sldId="415"/>
        </pc:sldMkLst>
      </pc:sldChg>
      <pc:sldChg chg="addSp delSp modSp add mod">
        <pc:chgData name="Eric Huang" userId="3b01fa70-91e3-4d29-852b-56bc423b811b" providerId="ADAL" clId="{2BF4BDDA-F1A4-44EE-95EA-21AFC6EDF82F}" dt="2026-09-21T16:36:56.423" v="2744" actId="14100"/>
        <pc:sldMkLst>
          <pc:docMk/>
          <pc:sldMk cId="3455594871" sldId="426"/>
        </pc:sldMkLst>
        <pc:spChg chg="mod">
          <ac:chgData name="Eric Huang" userId="3b01fa70-91e3-4d29-852b-56bc423b811b" providerId="ADAL" clId="{2BF4BDDA-F1A4-44EE-95EA-21AFC6EDF82F}" dt="2026-09-21T16:36:05.357" v="2727" actId="1076"/>
          <ac:spMkLst>
            <pc:docMk/>
            <pc:sldMk cId="3455594871" sldId="426"/>
            <ac:spMk id="4" creationId="{A42DBF82-F560-3A67-AC19-919EEA1318F5}"/>
          </ac:spMkLst>
        </pc:spChg>
        <pc:spChg chg="mod">
          <ac:chgData name="Eric Huang" userId="3b01fa70-91e3-4d29-852b-56bc423b811b" providerId="ADAL" clId="{2BF4BDDA-F1A4-44EE-95EA-21AFC6EDF82F}" dt="2026-09-21T16:36:38.158" v="2739" actId="1076"/>
          <ac:spMkLst>
            <pc:docMk/>
            <pc:sldMk cId="3455594871" sldId="426"/>
            <ac:spMk id="8" creationId="{39B98A08-4295-110D-53BF-291B26A9D413}"/>
          </ac:spMkLst>
        </pc:spChg>
        <pc:spChg chg="del">
          <ac:chgData name="Eric Huang" userId="3b01fa70-91e3-4d29-852b-56bc423b811b" providerId="ADAL" clId="{2BF4BDDA-F1A4-44EE-95EA-21AFC6EDF82F}" dt="2026-09-21T16:35:51.438" v="2723" actId="478"/>
          <ac:spMkLst>
            <pc:docMk/>
            <pc:sldMk cId="3455594871" sldId="426"/>
            <ac:spMk id="15" creationId="{F693EC70-BCF7-0ED5-59BB-9127CCAD0DED}"/>
          </ac:spMkLst>
        </pc:spChg>
        <pc:spChg chg="mod">
          <ac:chgData name="Eric Huang" userId="3b01fa70-91e3-4d29-852b-56bc423b811b" providerId="ADAL" clId="{2BF4BDDA-F1A4-44EE-95EA-21AFC6EDF82F}" dt="2026-09-21T16:36:09.990" v="2729" actId="1076"/>
          <ac:spMkLst>
            <pc:docMk/>
            <pc:sldMk cId="3455594871" sldId="426"/>
            <ac:spMk id="18" creationId="{BE15A547-BACE-EAB5-BCD2-51764D129DF7}"/>
          </ac:spMkLst>
        </pc:spChg>
        <pc:spChg chg="del">
          <ac:chgData name="Eric Huang" userId="3b01fa70-91e3-4d29-852b-56bc423b811b" providerId="ADAL" clId="{2BF4BDDA-F1A4-44EE-95EA-21AFC6EDF82F}" dt="2026-09-21T16:36:30.995" v="2736" actId="478"/>
          <ac:spMkLst>
            <pc:docMk/>
            <pc:sldMk cId="3455594871" sldId="426"/>
            <ac:spMk id="19" creationId="{9BC0B97F-43E8-EB44-6EB7-A5E03082B69A}"/>
          </ac:spMkLst>
        </pc:spChg>
        <pc:spChg chg="add del mod">
          <ac:chgData name="Eric Huang" userId="3b01fa70-91e3-4d29-852b-56bc423b811b" providerId="ADAL" clId="{2BF4BDDA-F1A4-44EE-95EA-21AFC6EDF82F}" dt="2026-09-21T16:36:44.424" v="2740" actId="478"/>
          <ac:spMkLst>
            <pc:docMk/>
            <pc:sldMk cId="3455594871" sldId="426"/>
            <ac:spMk id="23" creationId="{4F53D951-E074-8828-F1FD-F75BC192E2F6}"/>
          </ac:spMkLst>
        </pc:spChg>
        <pc:spChg chg="del">
          <ac:chgData name="Eric Huang" userId="3b01fa70-91e3-4d29-852b-56bc423b811b" providerId="ADAL" clId="{2BF4BDDA-F1A4-44EE-95EA-21AFC6EDF82F}" dt="2026-09-21T16:36:29.973" v="2735" actId="478"/>
          <ac:spMkLst>
            <pc:docMk/>
            <pc:sldMk cId="3455594871" sldId="426"/>
            <ac:spMk id="28" creationId="{ED281B45-936C-3727-F9B8-FB0DBB5F410D}"/>
          </ac:spMkLst>
        </pc:spChg>
        <pc:cxnChg chg="mod">
          <ac:chgData name="Eric Huang" userId="3b01fa70-91e3-4d29-852b-56bc423b811b" providerId="ADAL" clId="{2BF4BDDA-F1A4-44EE-95EA-21AFC6EDF82F}" dt="2026-09-21T16:36:56.423" v="2744" actId="14100"/>
          <ac:cxnSpMkLst>
            <pc:docMk/>
            <pc:sldMk cId="3455594871" sldId="426"/>
            <ac:cxnSpMk id="6" creationId="{B8C19822-3CFA-2A95-AF98-44B5E9AEAF7F}"/>
          </ac:cxnSpMkLst>
        </pc:cxnChg>
        <pc:cxnChg chg="mod">
          <ac:chgData name="Eric Huang" userId="3b01fa70-91e3-4d29-852b-56bc423b811b" providerId="ADAL" clId="{2BF4BDDA-F1A4-44EE-95EA-21AFC6EDF82F}" dt="2026-09-21T16:36:38.158" v="2739" actId="1076"/>
          <ac:cxnSpMkLst>
            <pc:docMk/>
            <pc:sldMk cId="3455594871" sldId="426"/>
            <ac:cxnSpMk id="10" creationId="{29313149-C444-9BBA-56B4-B9E6812B1D16}"/>
          </ac:cxnSpMkLst>
        </pc:cxnChg>
        <pc:cxnChg chg="del mod">
          <ac:chgData name="Eric Huang" userId="3b01fa70-91e3-4d29-852b-56bc423b811b" providerId="ADAL" clId="{2BF4BDDA-F1A4-44EE-95EA-21AFC6EDF82F}" dt="2026-09-21T16:36:31.651" v="2737" actId="478"/>
          <ac:cxnSpMkLst>
            <pc:docMk/>
            <pc:sldMk cId="3455594871" sldId="426"/>
            <ac:cxnSpMk id="20" creationId="{C99CE3C5-FE5E-DBAF-4109-188E9BD3834F}"/>
          </ac:cxnSpMkLst>
        </pc:cxnChg>
        <pc:cxnChg chg="del mod">
          <ac:chgData name="Eric Huang" userId="3b01fa70-91e3-4d29-852b-56bc423b811b" providerId="ADAL" clId="{2BF4BDDA-F1A4-44EE-95EA-21AFC6EDF82F}" dt="2026-09-21T16:36:33.193" v="2738" actId="478"/>
          <ac:cxnSpMkLst>
            <pc:docMk/>
            <pc:sldMk cId="3455594871" sldId="426"/>
            <ac:cxnSpMk id="21" creationId="{EEB9F856-CA06-3228-1784-DDDCF0572AFE}"/>
          </ac:cxnSpMkLst>
        </pc:cxnChg>
        <pc:cxnChg chg="add del mod">
          <ac:chgData name="Eric Huang" userId="3b01fa70-91e3-4d29-852b-56bc423b811b" providerId="ADAL" clId="{2BF4BDDA-F1A4-44EE-95EA-21AFC6EDF82F}" dt="2026-09-21T16:36:48.903" v="2742" actId="478"/>
          <ac:cxnSpMkLst>
            <pc:docMk/>
            <pc:sldMk cId="3455594871" sldId="426"/>
            <ac:cxnSpMk id="25" creationId="{CFB59B28-BAA2-0C59-5C00-264AE04882B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Source: https://betterexplained.com/articles/a-visual-guide-to-version-control/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4948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8292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Need an activity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7156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C4687-05C7-DF6B-B4E2-24203B608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CEFC1-0C1D-C2B6-8656-6D1DCDC05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81574-ABCF-4CF6-9B56-0B239E528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Need an activity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63573-E806-0758-DF67-B728DB696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9785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</a:t>
            </a:r>
          </a:p>
          <a:p>
            <a:r>
              <a:rPr lang="en-CA" dirty="0"/>
              <a:t>Staging Area</a:t>
            </a:r>
          </a:p>
          <a:p>
            <a:r>
              <a:rPr lang="en-CA" dirty="0"/>
              <a:t>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9465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9421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Make a new git repo through desktop App</a:t>
            </a:r>
          </a:p>
          <a:p>
            <a:pPr marL="228600" indent="-228600">
              <a:buAutoNum type="arabicPeriod"/>
            </a:pPr>
            <a:r>
              <a:rPr lang="en-CA" dirty="0"/>
              <a:t>Add a file to the directory</a:t>
            </a:r>
          </a:p>
          <a:p>
            <a:pPr marL="228600" indent="-228600">
              <a:buAutoNum type="arabicPeriod"/>
            </a:pPr>
            <a:r>
              <a:rPr lang="en-CA" dirty="0"/>
              <a:t>Return to desktop app and track the file</a:t>
            </a:r>
          </a:p>
          <a:p>
            <a:pPr marL="228600" indent="-228600">
              <a:buAutoNum type="arabicPeriod"/>
            </a:pPr>
            <a:r>
              <a:rPr lang="en-CA" dirty="0"/>
              <a:t>Create it, edit it, move it, remove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49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Make a new git repo through desktop App</a:t>
            </a:r>
          </a:p>
          <a:p>
            <a:pPr marL="228600" indent="-228600">
              <a:buAutoNum type="arabicPeriod"/>
            </a:pPr>
            <a:r>
              <a:rPr lang="en-CA" dirty="0"/>
              <a:t>Add a file to the directory</a:t>
            </a:r>
          </a:p>
          <a:p>
            <a:pPr marL="228600" indent="-228600">
              <a:buAutoNum type="arabicPeriod"/>
            </a:pPr>
            <a:r>
              <a:rPr lang="en-CA" dirty="0"/>
              <a:t>Return to desktop app and track the file</a:t>
            </a:r>
          </a:p>
          <a:p>
            <a:pPr marL="228600" indent="-228600">
              <a:buAutoNum type="arabicPeriod"/>
            </a:pPr>
            <a:r>
              <a:rPr lang="en-CA" dirty="0"/>
              <a:t>Create it, edit it, move it, remove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00492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Make a new git repo through desktop App</a:t>
            </a:r>
          </a:p>
          <a:p>
            <a:pPr marL="228600" indent="-228600">
              <a:buAutoNum type="arabicPeriod"/>
            </a:pPr>
            <a:r>
              <a:rPr lang="en-CA" dirty="0"/>
              <a:t>Add a file to the directory</a:t>
            </a:r>
          </a:p>
          <a:p>
            <a:pPr marL="228600" indent="-228600">
              <a:buAutoNum type="arabicPeriod"/>
            </a:pPr>
            <a:r>
              <a:rPr lang="en-CA" dirty="0"/>
              <a:t>Return to desktop app and track the file</a:t>
            </a:r>
          </a:p>
          <a:p>
            <a:pPr marL="228600" indent="-228600">
              <a:buAutoNum type="arabicPeriod"/>
            </a:pPr>
            <a:r>
              <a:rPr lang="en-CA" dirty="0"/>
              <a:t>Create it, edit it, move it, remove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33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Make a new git repo through desktop App</a:t>
            </a:r>
          </a:p>
          <a:p>
            <a:pPr marL="228600" indent="-228600">
              <a:buAutoNum type="arabicPeriod"/>
            </a:pPr>
            <a:r>
              <a:rPr lang="en-CA" dirty="0"/>
              <a:t>Add a file to the directory</a:t>
            </a:r>
          </a:p>
          <a:p>
            <a:pPr marL="228600" indent="-228600">
              <a:buAutoNum type="arabicPeriod"/>
            </a:pPr>
            <a:r>
              <a:rPr lang="en-CA" dirty="0"/>
              <a:t>Return to desktop app and track the file</a:t>
            </a:r>
          </a:p>
          <a:p>
            <a:pPr marL="228600" indent="-228600">
              <a:buAutoNum type="arabicPeriod"/>
            </a:pPr>
            <a:r>
              <a:rPr lang="en-CA" dirty="0"/>
              <a:t>Create it, edit it, move it, remove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3011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Edit your text file with an error</a:t>
            </a:r>
          </a:p>
          <a:p>
            <a:pPr marL="228600" indent="-228600">
              <a:buAutoNum type="arabicPeriod"/>
            </a:pPr>
            <a:r>
              <a:rPr lang="en-CA" dirty="0"/>
              <a:t>Go to desktop app and reset the file to the previous commit</a:t>
            </a:r>
          </a:p>
          <a:p>
            <a:pPr marL="228600" indent="-228600">
              <a:buAutoNum type="arabicPeriod"/>
            </a:pPr>
            <a:r>
              <a:rPr lang="en-CA" dirty="0"/>
              <a:t>Repeat BUT this time commit it</a:t>
            </a:r>
          </a:p>
          <a:p>
            <a:pPr marL="228600" indent="-228600">
              <a:buAutoNum type="arabicPeriod"/>
            </a:pPr>
            <a:r>
              <a:rPr lang="en-CA" dirty="0"/>
              <a:t>Revert changes of the commit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02771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Edit your text file with an error</a:t>
            </a:r>
          </a:p>
          <a:p>
            <a:pPr marL="228600" indent="-228600">
              <a:buAutoNum type="arabicPeriod"/>
            </a:pPr>
            <a:r>
              <a:rPr lang="en-CA" dirty="0"/>
              <a:t>Go to desktop app and reset the file to the previous commit</a:t>
            </a:r>
          </a:p>
          <a:p>
            <a:pPr marL="228600" indent="-228600">
              <a:buAutoNum type="arabicPeriod"/>
            </a:pPr>
            <a:r>
              <a:rPr lang="en-CA" dirty="0"/>
              <a:t>Repeat BUT this time commit it</a:t>
            </a:r>
          </a:p>
          <a:p>
            <a:pPr marL="228600" indent="-228600">
              <a:buAutoNum type="arabicPeriod"/>
            </a:pPr>
            <a:r>
              <a:rPr lang="en-CA" dirty="0"/>
              <a:t>Revert changes of the commit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8748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</a:t>
            </a:r>
          </a:p>
          <a:p>
            <a:r>
              <a:rPr lang="en-CA" dirty="0"/>
              <a:t>F</a:t>
            </a:r>
          </a:p>
          <a:p>
            <a:r>
              <a:rPr lang="en-CA" dirty="0"/>
              <a:t>No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12002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Create new branch and make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56393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Create new branch and make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9482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41E4E-B287-5ED3-7EBE-D7C5C6D5A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F99668-D3A3-83D2-904A-9E7A137D9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038286-AAFA-3B10-235E-F657A8B8D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Create new branch and make changes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2DFFD-A017-2383-AD61-21BE77189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94883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Make a more streamlined commit history</a:t>
            </a:r>
          </a:p>
          <a:p>
            <a:endParaRPr lang="en-CA" dirty="0"/>
          </a:p>
          <a:p>
            <a:r>
              <a:rPr lang="en-CA" dirty="0"/>
              <a:t>F</a:t>
            </a:r>
          </a:p>
          <a:p>
            <a:endParaRPr lang="en-CA" dirty="0"/>
          </a:p>
          <a:p>
            <a:r>
              <a:rPr lang="en-CA" dirty="0"/>
              <a:t>Use different files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06572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On this slide I can just open GitHub and explore the different features and options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92730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3C3E4-43CE-88DB-34EB-55A09F149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E80EE-7B95-F60E-06D3-AC4E3E16E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8A18A-ED3D-030A-6598-EF119BF0B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846FB-600C-4396-DA18-7F7F6C27A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86931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87D7B-DFD7-38CF-ACC1-EF67DEA2B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B9D5F-818B-7145-4B2B-D70DE751F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900F7-AAE5-FC7E-AEED-52FBE06DD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39D0B-8E9F-B0B1-4A70-210F4AABF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04267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E17C0-9289-B8F9-2C7D-6B450ADA8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A527E6-ABB6-22CC-A997-13EB698C5B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ED66C-ADF7-BEB8-F592-C64EA282A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786E7-F0AC-C659-6263-9C503405F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24510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Note: in future share zip files for projects to reduce fork #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21669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CEB-D41E-A219-622E-029138D8B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BB7B85-84E8-D561-4F2B-4B11FA81C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9866D-19FB-49E0-47CC-B218A47D2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2F819-8BAD-234A-60D7-DB42875365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7251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Push</a:t>
            </a:r>
          </a:p>
          <a:p>
            <a:r>
              <a:rPr lang="en-CA" dirty="0"/>
              <a:t>F</a:t>
            </a:r>
          </a:p>
          <a:p>
            <a:r>
              <a:rPr lang="en-CA" dirty="0"/>
              <a:t>F</a:t>
            </a:r>
          </a:p>
          <a:p>
            <a:r>
              <a:rPr lang="en-CA" dirty="0"/>
              <a:t>Control over additions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1918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8C73947-7933-1149-81E2-2A6481ACE834}"/>
              </a:ext>
            </a:extLst>
          </p:cNvPr>
          <p:cNvSpPr txBox="1">
            <a:spLocks/>
          </p:cNvSpPr>
          <p:nvPr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 dirty="0">
                <a:latin typeface="+mj-lt"/>
              </a:rPr>
              <a:t>Mission</a:t>
            </a:r>
            <a:r>
              <a:rPr lang="en-CA" sz="2002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2" dirty="0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31CC8AE-4D70-174F-9C92-FBBC12BFB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  <p:sp>
        <p:nvSpPr>
          <p:cNvPr id="7" name="ZoneTexte 7">
            <a:extLst>
              <a:ext uri="{FF2B5EF4-FFF2-40B4-BE49-F238E27FC236}">
                <a16:creationId xmlns:a16="http://schemas.microsoft.com/office/drawing/2014/main" id="{E46848FA-0ECF-07F4-F7D5-40C8632F8B9D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C710DB-824D-076E-19B2-6ECF82A52152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0" name="Espace réservé du contenu 5">
            <a:extLst>
              <a:ext uri="{FF2B5EF4-FFF2-40B4-BE49-F238E27FC236}">
                <a16:creationId xmlns:a16="http://schemas.microsoft.com/office/drawing/2014/main" id="{DE5D5D05-BE0D-7221-F84B-BA2668F987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3D55B558-51BE-751C-93D7-B171B12FC07A}"/>
              </a:ext>
            </a:extLst>
          </p:cNvPr>
          <p:cNvSpPr txBox="1">
            <a:spLocks/>
          </p:cNvSpPr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 dirty="0">
                <a:latin typeface="+mj-lt"/>
              </a:rPr>
              <a:t>Mission</a:t>
            </a:r>
            <a:r>
              <a:rPr lang="en-CA" sz="2002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2" dirty="0">
              <a:latin typeface="+mj-lt"/>
            </a:endParaRPr>
          </a:p>
        </p:txBody>
      </p:sp>
      <p:pic>
        <p:nvPicPr>
          <p:cNvPr id="12" name="Image 17">
            <a:extLst>
              <a:ext uri="{FF2B5EF4-FFF2-40B4-BE49-F238E27FC236}">
                <a16:creationId xmlns:a16="http://schemas.microsoft.com/office/drawing/2014/main" id="{2A9B2C28-0899-B97A-D783-F55B988B8C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62DA16F4-6CCC-1546-65D6-B45AF76564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915025" y="6192782"/>
            <a:ext cx="3228976" cy="54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09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ZoneTexte 7">
            <a:extLst>
              <a:ext uri="{FF2B5EF4-FFF2-40B4-BE49-F238E27FC236}">
                <a16:creationId xmlns:a16="http://schemas.microsoft.com/office/drawing/2014/main" id="{F843215A-852F-96FA-9CEE-6375FDB25D46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89FAEB-C132-CC11-80B7-02FE02DC55D8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9" name="Espace réservé du contenu 5">
            <a:extLst>
              <a:ext uri="{FF2B5EF4-FFF2-40B4-BE49-F238E27FC236}">
                <a16:creationId xmlns:a16="http://schemas.microsoft.com/office/drawing/2014/main" id="{F2A98FA9-31F9-97B6-A13D-FDF02149C2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9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ZoneTexte 7">
            <a:extLst>
              <a:ext uri="{FF2B5EF4-FFF2-40B4-BE49-F238E27FC236}">
                <a16:creationId xmlns:a16="http://schemas.microsoft.com/office/drawing/2014/main" id="{4642D12A-6E82-EE3B-DDA7-A3163D4F92EC}"/>
              </a:ext>
            </a:extLst>
          </p:cNvPr>
          <p:cNvSpPr txBox="1"/>
          <p:nvPr userDrawn="1"/>
        </p:nvSpPr>
        <p:spPr>
          <a:xfrm>
            <a:off x="7419976" y="650375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EF539D-1AC6-5447-23F3-63DC914C8C62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0" name="Espace réservé du contenu 5">
            <a:extLst>
              <a:ext uri="{FF2B5EF4-FFF2-40B4-BE49-F238E27FC236}">
                <a16:creationId xmlns:a16="http://schemas.microsoft.com/office/drawing/2014/main" id="{F26DCFD6-DD19-D5A6-7D4F-76F834E5C9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112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8716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71"/>
            <a:ext cx="78867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9234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6340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2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80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529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8C73947-7933-1149-81E2-2A6481ACE834}"/>
              </a:ext>
            </a:extLst>
          </p:cNvPr>
          <p:cNvSpPr txBox="1">
            <a:spLocks/>
          </p:cNvSpPr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 dirty="0">
                <a:latin typeface="+mj-lt"/>
              </a:rPr>
              <a:t>Mission</a:t>
            </a:r>
            <a:r>
              <a:rPr lang="en-CA" sz="2002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2" dirty="0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31CC8AE-4D70-174F-9C92-FBBC12BFB7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83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DB0C23C8-B348-83EA-328B-CF8BB10673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15025" y="6192782"/>
            <a:ext cx="3228976" cy="54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</p:grpSp>
      <p:pic>
        <p:nvPicPr>
          <p:cNvPr id="21" name="Image 20">
            <a:extLst>
              <a:ext uri="{FF2B5EF4-FFF2-40B4-BE49-F238E27FC236}">
                <a16:creationId xmlns:a16="http://schemas.microsoft.com/office/drawing/2014/main" id="{BBA76F50-A55F-9245-A363-154E7DFB1C4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  <p:grpSp>
        <p:nvGrpSpPr>
          <p:cNvPr id="11" name="Group 11">
            <a:extLst>
              <a:ext uri="{FF2B5EF4-FFF2-40B4-BE49-F238E27FC236}">
                <a16:creationId xmlns:a16="http://schemas.microsoft.com/office/drawing/2014/main" id="{948CD74C-D43E-1866-6BD6-3A6BB93420C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B80E370-ECAC-5649-BC57-14FF226775FF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CB87E2D-BB19-CF18-01C7-53BB45849460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1824C95-CEDF-6C2F-26C5-A8944B798A39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CB951EC-0BF1-4E5C-17DB-E1C346A3B971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928C644-4C24-45D3-FEEA-4221A92493E7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</p:grpSp>
      <p:pic>
        <p:nvPicPr>
          <p:cNvPr id="24" name="Image 20">
            <a:extLst>
              <a:ext uri="{FF2B5EF4-FFF2-40B4-BE49-F238E27FC236}">
                <a16:creationId xmlns:a16="http://schemas.microsoft.com/office/drawing/2014/main" id="{8B51A08F-FC4C-2663-EDF7-5A17AFE6736B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6D30A502-A51C-A559-AED1-FA66999E852D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5915025" y="6192782"/>
            <a:ext cx="3228976" cy="54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394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61" r:id="rId10"/>
    <p:sldLayoutId id="2147483670" r:id="rId11"/>
    <p:sldLayoutId id="2147483671" r:id="rId12"/>
  </p:sldLayoutIdLst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huan2/IntroToGitHub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huan2/IntroToGitHub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valds" TargetMode="External"/><Relationship Id="rId2" Type="http://schemas.openxmlformats.org/officeDocument/2006/relationships/hyperlink" Target="https://betterexplained.com/articles/a-visual-guide-to-version-control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alkingrandomly.com/?p=6653" TargetMode="External"/><Relationship Id="rId5" Type="http://schemas.openxmlformats.org/officeDocument/2006/relationships/hyperlink" Target="https://github.com/qw3rtman/git-fire" TargetMode="External"/><Relationship Id="rId4" Type="http://schemas.openxmlformats.org/officeDocument/2006/relationships/hyperlink" Target="https://github.com/gitst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45C165F-BC2D-0A42-B582-A27AE4DBB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 to Git and GitHub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537085-13D1-FBF7-FC22-14EA9C5F5578}"/>
              </a:ext>
            </a:extLst>
          </p:cNvPr>
          <p:cNvSpPr txBox="1">
            <a:spLocks/>
          </p:cNvSpPr>
          <p:nvPr/>
        </p:nvSpPr>
        <p:spPr>
          <a:xfrm>
            <a:off x="623888" y="4589471"/>
            <a:ext cx="7886700" cy="1500188"/>
          </a:xfrm>
          <a:prstGeom prst="rect">
            <a:avLst/>
          </a:prstGeom>
        </p:spPr>
        <p:txBody>
          <a:bodyPr/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dirty="0"/>
              <a:t>Workshop Lead: Eric Huang</a:t>
            </a:r>
          </a:p>
          <a:p>
            <a:pPr marL="0" indent="0">
              <a:buNone/>
            </a:pPr>
            <a:r>
              <a:rPr lang="en-CA" dirty="0"/>
              <a:t>Facilitator: Judah Zammit</a:t>
            </a:r>
          </a:p>
          <a:p>
            <a:pPr marL="0" indent="0">
              <a:buNone/>
            </a:pPr>
            <a:r>
              <a:rPr lang="en-CA" dirty="0"/>
              <a:t>September 23</a:t>
            </a:r>
            <a:r>
              <a:rPr lang="en-CA" baseline="30000" dirty="0"/>
              <a:t>rd</a:t>
            </a:r>
            <a:r>
              <a:rPr lang="en-CA" dirty="0"/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2389275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E543B8-96E5-F2A9-6F87-38F12D86B6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Outline for this workshop: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Intro to Git and Version Control Systems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Basic Git functions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Advanced Git functions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Working with GitHub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Miscellaneous Features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1592450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7A004E-DF48-DFF4-8D27-CC4C90721A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Hands-on Activities:</a:t>
            </a:r>
          </a:p>
          <a:p>
            <a:r>
              <a:rPr lang="en-CA" dirty="0"/>
              <a:t>Quick Review Polls</a:t>
            </a:r>
          </a:p>
          <a:p>
            <a:r>
              <a:rPr lang="en-CA" dirty="0"/>
              <a:t>Git/GitHub exercises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What you will need: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GitHub Desktop App and GitHub Account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Text editor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UNIX-based Command Line (time-allowing)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43592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E2662B-C95B-76DF-8523-2BDCBE3A73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What you WILL learn</a:t>
            </a:r>
          </a:p>
          <a:p>
            <a:r>
              <a:rPr lang="en-CA" dirty="0"/>
              <a:t>Basic theory and features behind Git and GitHub</a:t>
            </a:r>
          </a:p>
          <a:p>
            <a:r>
              <a:rPr lang="en-CA" dirty="0"/>
              <a:t>How to manage local and remote repositories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b="1" dirty="0"/>
              <a:t>What you will NOT learn</a:t>
            </a:r>
          </a:p>
          <a:p>
            <a:r>
              <a:rPr lang="en-CA" dirty="0"/>
              <a:t>How to code</a:t>
            </a:r>
          </a:p>
          <a:p>
            <a:r>
              <a:rPr lang="en-CA" dirty="0"/>
              <a:t>Data Analysis Pipelines</a:t>
            </a:r>
          </a:p>
        </p:txBody>
      </p:sp>
    </p:spTree>
    <p:extLst>
      <p:ext uri="{BB962C8B-B14F-4D97-AF65-F5344CB8AC3E}">
        <p14:creationId xmlns:p14="http://schemas.microsoft.com/office/powerpoint/2010/main" val="2837531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3D6295-D41F-B16A-80CA-1D999E04C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849" y="1213562"/>
            <a:ext cx="3970552" cy="529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056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28E789-0CD4-A736-2344-766F87DCC6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061873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Version Control Systems</a:t>
            </a:r>
          </a:p>
          <a:p>
            <a:r>
              <a:rPr lang="en-CA" dirty="0"/>
              <a:t>Document changes</a:t>
            </a:r>
          </a:p>
          <a:p>
            <a:r>
              <a:rPr lang="en-CA" dirty="0"/>
              <a:t>Unlimited “undo” button</a:t>
            </a:r>
          </a:p>
          <a:p>
            <a:r>
              <a:rPr lang="en-CA" dirty="0"/>
              <a:t>Allow for multiple collaborators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497FBE-398F-F450-55A5-0169B83FAC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378"/>
          <a:stretch/>
        </p:blipFill>
        <p:spPr>
          <a:xfrm>
            <a:off x="1142114" y="4284198"/>
            <a:ext cx="6859771" cy="1623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0C0EF4-3357-D0B4-AACB-CEAEFAD6502E}"/>
              </a:ext>
            </a:extLst>
          </p:cNvPr>
          <p:cNvSpPr txBox="1"/>
          <p:nvPr/>
        </p:nvSpPr>
        <p:spPr>
          <a:xfrm>
            <a:off x="3755128" y="3914738"/>
            <a:ext cx="3080084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Groceries.txt</a:t>
            </a:r>
          </a:p>
        </p:txBody>
      </p:sp>
    </p:spTree>
    <p:extLst>
      <p:ext uri="{BB962C8B-B14F-4D97-AF65-F5344CB8AC3E}">
        <p14:creationId xmlns:p14="http://schemas.microsoft.com/office/powerpoint/2010/main" val="116534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0FAA95-56E1-2195-5855-46B50DD5E6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7"/>
            <a:ext cx="8658743" cy="5151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Git</a:t>
            </a:r>
          </a:p>
          <a:p>
            <a:r>
              <a:rPr lang="en-CA" dirty="0"/>
              <a:t>A type of version control system</a:t>
            </a:r>
          </a:p>
          <a:p>
            <a:r>
              <a:rPr lang="en-CA" dirty="0"/>
              <a:t>Open-source</a:t>
            </a:r>
          </a:p>
          <a:p>
            <a:r>
              <a:rPr lang="en-CA" dirty="0"/>
              <a:t>The industry standard tool</a:t>
            </a:r>
          </a:p>
          <a:p>
            <a:endParaRPr lang="en-CA" dirty="0"/>
          </a:p>
          <a:p>
            <a:r>
              <a:rPr lang="en-CA" dirty="0"/>
              <a:t>Designed for:</a:t>
            </a:r>
          </a:p>
          <a:p>
            <a:pPr lvl="1"/>
            <a:r>
              <a:rPr lang="en-CA" dirty="0"/>
              <a:t>Speed</a:t>
            </a:r>
          </a:p>
          <a:p>
            <a:pPr lvl="1"/>
            <a:r>
              <a:rPr lang="en-CA" dirty="0"/>
              <a:t>Simple design</a:t>
            </a:r>
          </a:p>
          <a:p>
            <a:pPr lvl="1"/>
            <a:r>
              <a:rPr lang="en-CA" dirty="0"/>
              <a:t>Non-linear development (branching)</a:t>
            </a:r>
          </a:p>
          <a:p>
            <a:pPr lvl="1"/>
            <a:r>
              <a:rPr lang="en-CA" dirty="0"/>
              <a:t>No centralized “truth”</a:t>
            </a:r>
          </a:p>
          <a:p>
            <a:pPr lvl="1"/>
            <a:r>
              <a:rPr lang="en-CA" dirty="0"/>
              <a:t>Handle large projects efficiently</a:t>
            </a:r>
          </a:p>
          <a:p>
            <a:pPr lvl="1"/>
            <a:endParaRPr lang="en-CA" dirty="0"/>
          </a:p>
        </p:txBody>
      </p:sp>
      <p:pic>
        <p:nvPicPr>
          <p:cNvPr id="1026" name="Picture 2" descr="Git · GitHub">
            <a:extLst>
              <a:ext uri="{FF2B5EF4-FFF2-40B4-BE49-F238E27FC236}">
                <a16:creationId xmlns:a16="http://schemas.microsoft.com/office/drawing/2014/main" id="{72C526F7-AD9B-8A76-27CF-5B8208E93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868" y="15240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1111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2C38E-8C68-AF7D-42F6-C4F7C93BA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torvalds (Linus Torvalds) · GitHub">
            <a:extLst>
              <a:ext uri="{FF2B5EF4-FFF2-40B4-BE49-F238E27FC236}">
                <a16:creationId xmlns:a16="http://schemas.microsoft.com/office/drawing/2014/main" id="{9E9756BD-2411-4740-8248-BEF8C46CA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32" y="1664109"/>
            <a:ext cx="1764891" cy="1764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gitster (Junio C Hamano) · GitHub">
            <a:extLst>
              <a:ext uri="{FF2B5EF4-FFF2-40B4-BE49-F238E27FC236}">
                <a16:creationId xmlns:a16="http://schemas.microsoft.com/office/drawing/2014/main" id="{9BF58C13-D6FD-9F56-A1B1-6058ECB47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32" y="3859698"/>
            <a:ext cx="1764891" cy="1764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149EDA-954D-E858-32AA-A7D1926B14E3}"/>
              </a:ext>
            </a:extLst>
          </p:cNvPr>
          <p:cNvSpPr txBox="1"/>
          <p:nvPr/>
        </p:nvSpPr>
        <p:spPr>
          <a:xfrm>
            <a:off x="2743200" y="2223260"/>
            <a:ext cx="4771504" cy="646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Git was created by </a:t>
            </a:r>
            <a:r>
              <a:rPr lang="en-US" b="1" dirty="0"/>
              <a:t>Linus Torvalds</a:t>
            </a:r>
            <a:r>
              <a:rPr lang="en-US" dirty="0"/>
              <a:t>, the same person who started the Linux kernel.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D773C8-FD6D-094D-E960-8DC3154514E1}"/>
              </a:ext>
            </a:extLst>
          </p:cNvPr>
          <p:cNvSpPr txBox="1"/>
          <p:nvPr/>
        </p:nvSpPr>
        <p:spPr>
          <a:xfrm>
            <a:off x="2743200" y="4141722"/>
            <a:ext cx="4771504" cy="1200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After only a few months of development, he handed the "maintainer" torch to </a:t>
            </a:r>
            <a:r>
              <a:rPr lang="en-US" b="1" dirty="0"/>
              <a:t>Junio Hamano</a:t>
            </a:r>
            <a:r>
              <a:rPr lang="en-US" dirty="0"/>
              <a:t>, a Japanese software engineer who had been a major contributor from the start.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32685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252691-AD7E-B9B9-8DF3-DB5BADA019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What can Git do?</a:t>
            </a:r>
          </a:p>
          <a:p>
            <a:r>
              <a:rPr lang="en-CA" dirty="0"/>
              <a:t>Can track any file but works best for </a:t>
            </a:r>
            <a:r>
              <a:rPr lang="en-CA" b="1" dirty="0"/>
              <a:t>pure text files</a:t>
            </a:r>
            <a:r>
              <a:rPr lang="en-CA" dirty="0"/>
              <a:t> (.txt,.R,.</a:t>
            </a:r>
            <a:r>
              <a:rPr lang="en-CA" dirty="0" err="1"/>
              <a:t>py</a:t>
            </a:r>
            <a:r>
              <a:rPr lang="en-CA" dirty="0"/>
              <a:t> etc.)</a:t>
            </a:r>
          </a:p>
          <a:p>
            <a:pPr lvl="1"/>
            <a:r>
              <a:rPr lang="en-CA" dirty="0"/>
              <a:t>Can track and display changes in pure text files</a:t>
            </a:r>
          </a:p>
          <a:p>
            <a:endParaRPr lang="en-CA" dirty="0"/>
          </a:p>
          <a:p>
            <a:r>
              <a:rPr lang="en-CA" dirty="0"/>
              <a:t>Cannot display for binary files (e.g.: Word/PowerPoint)</a:t>
            </a:r>
          </a:p>
          <a:p>
            <a:pPr lvl="1"/>
            <a:r>
              <a:rPr lang="en-CA" dirty="0"/>
              <a:t>Still useful for storing such files, just cannot use all of Git’s features</a:t>
            </a:r>
          </a:p>
          <a:p>
            <a:endParaRPr lang="en-CA" dirty="0"/>
          </a:p>
          <a:p>
            <a:r>
              <a:rPr lang="en-CA" dirty="0"/>
              <a:t>Markdown and LaTeX can be used instead of these binary files</a:t>
            </a:r>
          </a:p>
        </p:txBody>
      </p:sp>
    </p:spTree>
    <p:extLst>
      <p:ext uri="{BB962C8B-B14F-4D97-AF65-F5344CB8AC3E}">
        <p14:creationId xmlns:p14="http://schemas.microsoft.com/office/powerpoint/2010/main" val="1245366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96A813-B91B-5EE5-9A4B-5D5192F26E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A9DC51-E39B-F6AF-EA7F-85DECB72B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79" y="1454228"/>
            <a:ext cx="7800392" cy="481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101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7FAD5-AB28-0FA2-6428-BCA0E5739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16905F-BA1D-63E8-5092-158760655C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3032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CA" b="1" dirty="0"/>
              <a:t>Git 		vs.		</a:t>
            </a:r>
            <a:r>
              <a:rPr lang="en-CA" b="1" dirty="0">
                <a:hlinkClick r:id="rId2"/>
              </a:rPr>
              <a:t>GitHub</a:t>
            </a:r>
            <a:r>
              <a:rPr lang="en-CA" b="1" dirty="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524213-F2C1-21AD-78E2-77E445BF27C0}"/>
              </a:ext>
            </a:extLst>
          </p:cNvPr>
          <p:cNvSpPr txBox="1">
            <a:spLocks/>
          </p:cNvSpPr>
          <p:nvPr/>
        </p:nvSpPr>
        <p:spPr>
          <a:xfrm>
            <a:off x="628650" y="1825627"/>
            <a:ext cx="3886200" cy="4351335"/>
          </a:xfrm>
          <a:prstGeom prst="rect">
            <a:avLst/>
          </a:prstGeom>
        </p:spPr>
        <p:txBody>
          <a:bodyPr/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/>
          </a:p>
          <a:p>
            <a:r>
              <a:rPr lang="en-CA" dirty="0"/>
              <a:t>A version control system</a:t>
            </a:r>
          </a:p>
          <a:p>
            <a:pPr lvl="1"/>
            <a:r>
              <a:rPr lang="en-CA" dirty="0"/>
              <a:t>Each project is a repository</a:t>
            </a:r>
          </a:p>
          <a:p>
            <a:endParaRPr lang="en-CA" dirty="0"/>
          </a:p>
          <a:p>
            <a:r>
              <a:rPr lang="en-CA" dirty="0"/>
              <a:t>Works locally and remotely</a:t>
            </a:r>
          </a:p>
          <a:p>
            <a:endParaRPr lang="en-CA" dirty="0"/>
          </a:p>
          <a:p>
            <a:r>
              <a:rPr lang="en-CA" dirty="0"/>
              <a:t>Is open-source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CA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CC6774A-2DF4-9CEC-3D6D-0A8C8C5784DA}"/>
              </a:ext>
            </a:extLst>
          </p:cNvPr>
          <p:cNvSpPr txBox="1">
            <a:spLocks/>
          </p:cNvSpPr>
          <p:nvPr/>
        </p:nvSpPr>
        <p:spPr>
          <a:xfrm>
            <a:off x="4629150" y="1825627"/>
            <a:ext cx="3886200" cy="4351335"/>
          </a:xfrm>
          <a:prstGeom prst="rect">
            <a:avLst/>
          </a:prstGeom>
        </p:spPr>
        <p:txBody>
          <a:bodyPr/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/>
          </a:p>
          <a:p>
            <a:r>
              <a:rPr lang="en-CA" dirty="0"/>
              <a:t>A server that </a:t>
            </a:r>
            <a:r>
              <a:rPr lang="en-CA" b="1" dirty="0"/>
              <a:t>hosts </a:t>
            </a:r>
            <a:r>
              <a:rPr lang="en-CA" dirty="0"/>
              <a:t>Git repositories</a:t>
            </a:r>
          </a:p>
          <a:p>
            <a:pPr lvl="1"/>
            <a:r>
              <a:rPr lang="en-CA" dirty="0"/>
              <a:t>Biggest host of open-source projects!</a:t>
            </a:r>
          </a:p>
          <a:p>
            <a:pPr marL="457088" lvl="1" indent="0">
              <a:buNone/>
            </a:pPr>
            <a:endParaRPr lang="en-CA" dirty="0"/>
          </a:p>
          <a:p>
            <a:r>
              <a:rPr lang="en-CA" dirty="0"/>
              <a:t>A cloud-based service</a:t>
            </a:r>
          </a:p>
          <a:p>
            <a:endParaRPr lang="en-CA" dirty="0"/>
          </a:p>
          <a:p>
            <a:r>
              <a:rPr lang="en-CA" dirty="0"/>
              <a:t>Owned by Microsoft (2018)</a:t>
            </a:r>
          </a:p>
        </p:txBody>
      </p:sp>
    </p:spTree>
    <p:extLst>
      <p:ext uri="{BB962C8B-B14F-4D97-AF65-F5344CB8AC3E}">
        <p14:creationId xmlns:p14="http://schemas.microsoft.com/office/powerpoint/2010/main" val="263373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71840A-47BB-D406-2B18-5DF99FE824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sz="3200" b="1" dirty="0"/>
              <a:t>Terminology: Working directory vs. Git Repository</a:t>
            </a:r>
          </a:p>
          <a:p>
            <a:endParaRPr lang="en-CA" sz="2800" dirty="0"/>
          </a:p>
          <a:p>
            <a:r>
              <a:rPr lang="en-CA" sz="2800" dirty="0"/>
              <a:t>Working directory is your </a:t>
            </a:r>
            <a:r>
              <a:rPr lang="en-CA" sz="2800" b="1" dirty="0"/>
              <a:t>project folder</a:t>
            </a:r>
          </a:p>
          <a:p>
            <a:endParaRPr lang="en-CA" sz="2800" b="1" dirty="0"/>
          </a:p>
          <a:p>
            <a:r>
              <a:rPr lang="en-CA" sz="2800" dirty="0"/>
              <a:t>Git Repository is a </a:t>
            </a:r>
            <a:r>
              <a:rPr lang="en-CA" sz="2800" b="1" dirty="0"/>
              <a:t>hidden folder </a:t>
            </a:r>
            <a:r>
              <a:rPr lang="en-CA" sz="2800" dirty="0"/>
              <a:t>stored inside your working directory</a:t>
            </a:r>
          </a:p>
          <a:p>
            <a:pPr lvl="1"/>
            <a:r>
              <a:rPr lang="en-CA" sz="2402" dirty="0"/>
              <a:t>Contains the necessary tracking of changes (Git history)</a:t>
            </a:r>
          </a:p>
        </p:txBody>
      </p:sp>
    </p:spTree>
    <p:extLst>
      <p:ext uri="{BB962C8B-B14F-4D97-AF65-F5344CB8AC3E}">
        <p14:creationId xmlns:p14="http://schemas.microsoft.com/office/powerpoint/2010/main" val="3120015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7081D6-040C-6BF0-E8AD-43921AF065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2800" b="1" dirty="0"/>
              <a:t>Terminology: Staging Area</a:t>
            </a:r>
          </a:p>
          <a:p>
            <a:r>
              <a:rPr lang="en-CA" dirty="0"/>
              <a:t>Rough draft area</a:t>
            </a:r>
          </a:p>
          <a:p>
            <a:r>
              <a:rPr lang="en-CA" dirty="0"/>
              <a:t>Track changes without adding it to history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sz="2800" b="1" dirty="0"/>
              <a:t>Terminology: Commit</a:t>
            </a:r>
          </a:p>
          <a:p>
            <a:r>
              <a:rPr lang="en-CA" sz="2800" dirty="0"/>
              <a:t>Direct checkpoint to add to history</a:t>
            </a:r>
          </a:p>
          <a:p>
            <a:r>
              <a:rPr lang="en-CA" sz="2800" dirty="0"/>
              <a:t>Used when a change is complete</a:t>
            </a:r>
          </a:p>
          <a:p>
            <a:pPr marL="0" indent="0">
              <a:buNone/>
            </a:pPr>
            <a:endParaRPr lang="en-CA" dirty="0"/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49871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24517E-9288-0D5B-A398-F1132CA838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Git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B5204A-66E1-62C8-EAFB-D6CACFA36AAC}"/>
              </a:ext>
            </a:extLst>
          </p:cNvPr>
          <p:cNvSpPr/>
          <p:nvPr/>
        </p:nvSpPr>
        <p:spPr>
          <a:xfrm>
            <a:off x="600012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063E20-C471-E6A4-893C-741C85778811}"/>
              </a:ext>
            </a:extLst>
          </p:cNvPr>
          <p:cNvSpPr/>
          <p:nvPr/>
        </p:nvSpPr>
        <p:spPr>
          <a:xfrm>
            <a:off x="600012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45FE41-7FD6-2410-5D0A-D65DA926925D}"/>
              </a:ext>
            </a:extLst>
          </p:cNvPr>
          <p:cNvSpPr/>
          <p:nvPr/>
        </p:nvSpPr>
        <p:spPr>
          <a:xfrm>
            <a:off x="3788803" y="2151940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Staging</a:t>
            </a:r>
          </a:p>
          <a:p>
            <a:pPr algn="ctr"/>
            <a:r>
              <a:rPr lang="en-CA" b="1" dirty="0"/>
              <a:t>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C9CA37-FB16-4919-98B3-413C17773A2F}"/>
              </a:ext>
            </a:extLst>
          </p:cNvPr>
          <p:cNvSpPr/>
          <p:nvPr/>
        </p:nvSpPr>
        <p:spPr>
          <a:xfrm>
            <a:off x="6978108" y="2151941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1FD7C1-B59F-DE55-DA63-0372381F006F}"/>
              </a:ext>
            </a:extLst>
          </p:cNvPr>
          <p:cNvSpPr/>
          <p:nvPr/>
        </p:nvSpPr>
        <p:spPr>
          <a:xfrm>
            <a:off x="3789060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0E22C-CDF6-915B-605D-C2DE1D234A16}"/>
              </a:ext>
            </a:extLst>
          </p:cNvPr>
          <p:cNvSpPr/>
          <p:nvPr/>
        </p:nvSpPr>
        <p:spPr>
          <a:xfrm>
            <a:off x="6978108" y="3878141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265DF6-BB88-2ADD-ECE3-C93B8404A07D}"/>
              </a:ext>
            </a:extLst>
          </p:cNvPr>
          <p:cNvSpPr/>
          <p:nvPr/>
        </p:nvSpPr>
        <p:spPr>
          <a:xfrm>
            <a:off x="6978108" y="511564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CFCD23-A970-B5C3-F585-5A5FDE41E3D2}"/>
              </a:ext>
            </a:extLst>
          </p:cNvPr>
          <p:cNvSpPr/>
          <p:nvPr/>
        </p:nvSpPr>
        <p:spPr>
          <a:xfrm>
            <a:off x="3789060" y="5115641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8769D43-4669-3B84-477C-F0D71B240CF0}"/>
              </a:ext>
            </a:extLst>
          </p:cNvPr>
          <p:cNvSpPr/>
          <p:nvPr/>
        </p:nvSpPr>
        <p:spPr>
          <a:xfrm>
            <a:off x="2352782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Add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34615A0-A3AE-2822-490B-44861A4DC53D}"/>
              </a:ext>
            </a:extLst>
          </p:cNvPr>
          <p:cNvSpPr/>
          <p:nvPr/>
        </p:nvSpPr>
        <p:spPr>
          <a:xfrm>
            <a:off x="5712323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Commit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7813187B-9A62-B21D-518D-1C283C5021A3}"/>
              </a:ext>
            </a:extLst>
          </p:cNvPr>
          <p:cNvSpPr/>
          <p:nvPr/>
        </p:nvSpPr>
        <p:spPr>
          <a:xfrm rot="5400000">
            <a:off x="5751984" y="45761"/>
            <a:ext cx="478098" cy="359356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610B5-513F-26CD-F15D-33D9A0F742C4}"/>
              </a:ext>
            </a:extLst>
          </p:cNvPr>
          <p:cNvSpPr txBox="1"/>
          <p:nvPr/>
        </p:nvSpPr>
        <p:spPr>
          <a:xfrm>
            <a:off x="5219272" y="1304818"/>
            <a:ext cx="1654664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Git Repository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B21739-977F-9F86-5173-7F90976DDF58}"/>
              </a:ext>
            </a:extLst>
          </p:cNvPr>
          <p:cNvSpPr/>
          <p:nvPr/>
        </p:nvSpPr>
        <p:spPr>
          <a:xfrm>
            <a:off x="600012" y="5115639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b="1" dirty="0"/>
              <a:t>TRACKED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C34AF6-5463-43B7-5722-F40A51B94DA7}"/>
              </a:ext>
            </a:extLst>
          </p:cNvPr>
          <p:cNvSpPr/>
          <p:nvPr/>
        </p:nvSpPr>
        <p:spPr>
          <a:xfrm>
            <a:off x="600012" y="5115641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</p:spTree>
    <p:extLst>
      <p:ext uri="{BB962C8B-B14F-4D97-AF65-F5344CB8AC3E}">
        <p14:creationId xmlns:p14="http://schemas.microsoft.com/office/powerpoint/2010/main" val="62060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1" grpId="0" animBg="1"/>
      <p:bldP spid="11" grpId="1" animBg="1"/>
      <p:bldP spid="12" grpId="0" animBg="1"/>
      <p:bldP spid="14" grpId="0" animBg="1"/>
      <p:bldP spid="15" grpId="0" animBg="1"/>
      <p:bldP spid="15" grpId="1" animBg="1"/>
      <p:bldP spid="10" grpId="0" animBg="1"/>
      <p:bldP spid="17" grpId="0" animBg="1"/>
      <p:bldP spid="18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6D3F4F-478A-DE35-3B27-7D87382BE8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Commit Messages</a:t>
            </a:r>
            <a:endParaRPr lang="en-CA" dirty="0"/>
          </a:p>
          <a:p>
            <a:r>
              <a:rPr lang="en-CA" dirty="0"/>
              <a:t>Every commit MUST have an attached message</a:t>
            </a:r>
          </a:p>
          <a:p>
            <a:r>
              <a:rPr lang="en-CA" dirty="0"/>
              <a:t>Identifies what changes have been made and why </a:t>
            </a:r>
          </a:p>
          <a:p>
            <a:endParaRPr lang="en-CA" dirty="0"/>
          </a:p>
          <a:p>
            <a:r>
              <a:rPr lang="en-CA" dirty="0"/>
              <a:t>[filename added/changed ; what change ; why]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9004D5-6BAC-B9F3-9058-038AB7C57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6" y="4380904"/>
            <a:ext cx="4869179" cy="175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477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6EA92-2528-58E1-9A54-14BD5B6F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55E5F07-07FC-CA62-EE41-F04B69057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89" y="1386672"/>
            <a:ext cx="8494621" cy="476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077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9D270B-8153-F116-AB32-35D7DBA0DE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Poll #1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T/F – Both untracked and modified files must be </a:t>
            </a:r>
            <a:r>
              <a:rPr lang="en-CA" b="1" dirty="0"/>
              <a:t>added</a:t>
            </a:r>
            <a:r>
              <a:rPr lang="en-CA" dirty="0"/>
              <a:t> to the staging area before being committed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T/F - GitHub is a type of Version Control System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T/F – The repository keeps track of changes by storing a </a:t>
            </a:r>
            <a:r>
              <a:rPr lang="en-CA" b="1" dirty="0"/>
              <a:t>new</a:t>
            </a:r>
            <a:r>
              <a:rPr lang="en-CA" dirty="0"/>
              <a:t> version of each file at each commit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0870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A2806D-35FE-24B5-F6B0-BC4E91E20B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Summary</a:t>
            </a:r>
          </a:p>
          <a:p>
            <a:endParaRPr lang="en-CA" dirty="0"/>
          </a:p>
          <a:p>
            <a:r>
              <a:rPr lang="en-CA" dirty="0"/>
              <a:t>Untracked or modified files are first </a:t>
            </a:r>
            <a:r>
              <a:rPr lang="en-CA" b="1" dirty="0"/>
              <a:t>added </a:t>
            </a:r>
            <a:r>
              <a:rPr lang="en-CA" dirty="0"/>
              <a:t>to the </a:t>
            </a:r>
            <a:r>
              <a:rPr lang="en-CA" b="1" dirty="0"/>
              <a:t>staging area</a:t>
            </a:r>
          </a:p>
          <a:p>
            <a:endParaRPr lang="en-CA" dirty="0"/>
          </a:p>
          <a:p>
            <a:r>
              <a:rPr lang="en-CA" dirty="0"/>
              <a:t>Changes that have been staged can then be </a:t>
            </a:r>
            <a:r>
              <a:rPr lang="en-CA" b="1" dirty="0"/>
              <a:t>committed </a:t>
            </a:r>
            <a:r>
              <a:rPr lang="en-CA" dirty="0"/>
              <a:t>to the </a:t>
            </a:r>
            <a:r>
              <a:rPr lang="en-CA" b="1" dirty="0"/>
              <a:t>local repository</a:t>
            </a:r>
          </a:p>
          <a:p>
            <a:endParaRPr lang="en-CA" dirty="0"/>
          </a:p>
          <a:p>
            <a:r>
              <a:rPr lang="en-CA" dirty="0"/>
              <a:t>Commits can then be used to </a:t>
            </a:r>
            <a:r>
              <a:rPr lang="en-CA" b="1" dirty="0"/>
              <a:t>revert or</a:t>
            </a:r>
            <a:r>
              <a:rPr lang="en-CA" dirty="0"/>
              <a:t> </a:t>
            </a:r>
            <a:r>
              <a:rPr lang="en-CA" b="1" dirty="0"/>
              <a:t>keep track</a:t>
            </a:r>
            <a:r>
              <a:rPr lang="en-CA" dirty="0"/>
              <a:t> of what changes have been made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607115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CF4C5-19DD-1456-A479-EB3A5630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II – Basic Git Features</a:t>
            </a:r>
          </a:p>
        </p:txBody>
      </p:sp>
    </p:spTree>
    <p:extLst>
      <p:ext uri="{BB962C8B-B14F-4D97-AF65-F5344CB8AC3E}">
        <p14:creationId xmlns:p14="http://schemas.microsoft.com/office/powerpoint/2010/main" val="1442157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#0 – Initialize a Git Repository</a:t>
            </a:r>
          </a:p>
          <a:p>
            <a:pPr marL="0" indent="0">
              <a:buNone/>
            </a:pP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4084145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#0 – Initialize a Git Repository</a:t>
            </a:r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Create a new Git Repository (File </a:t>
            </a:r>
            <a:r>
              <a:rPr lang="en-CA" dirty="0">
                <a:sym typeface="Wingdings" panose="05000000000000000000" pitchFamily="2" charset="2"/>
              </a:rPr>
              <a:t> new repo OR “create a new repository on your hard drive”)</a:t>
            </a:r>
          </a:p>
          <a:p>
            <a:pPr marL="514350" indent="-514350">
              <a:buFont typeface="+mj-lt"/>
              <a:buAutoNum type="arabicPeriod"/>
            </a:pPr>
            <a:endParaRPr lang="en-CA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sym typeface="Wingdings" panose="05000000000000000000" pitchFamily="2" charset="2"/>
              </a:rPr>
              <a:t>Open the generated project folder, what do you see?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67838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#1 – Create and track a Text File with Git</a:t>
            </a:r>
          </a:p>
        </p:txBody>
      </p:sp>
    </p:spTree>
    <p:extLst>
      <p:ext uri="{BB962C8B-B14F-4D97-AF65-F5344CB8AC3E}">
        <p14:creationId xmlns:p14="http://schemas.microsoft.com/office/powerpoint/2010/main" val="634442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b="1" dirty="0"/>
              <a:t>Activity #1 – Create and track a Text File with Git</a:t>
            </a:r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Create a text file (or code script) in the project folder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Add + commit the file to track it. 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Look at your commit history to see your commit!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Modify the file and commit the changes. Try and make informative commit messages!</a:t>
            </a:r>
          </a:p>
        </p:txBody>
      </p:sp>
    </p:spTree>
    <p:extLst>
      <p:ext uri="{BB962C8B-B14F-4D97-AF65-F5344CB8AC3E}">
        <p14:creationId xmlns:p14="http://schemas.microsoft.com/office/powerpoint/2010/main" val="907190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#2 – Revert a file to a previous commit</a:t>
            </a:r>
          </a:p>
        </p:txBody>
      </p:sp>
    </p:spTree>
    <p:extLst>
      <p:ext uri="{BB962C8B-B14F-4D97-AF65-F5344CB8AC3E}">
        <p14:creationId xmlns:p14="http://schemas.microsoft.com/office/powerpoint/2010/main" val="17238555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Activity #2 – Revert a file to a previous commit</a:t>
            </a:r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an unwanted change to your file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Use your staging area to discard the changes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another unwanted change and commit it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Now use your commit history to revert the commit!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23309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487D5F-FC03-68BB-A41E-18A16F4772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Poll #2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T/F – After initialisation, a project folder becomes a git repository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T/F – After making a commit, you cannot revert to a previous version of your repository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Is it possible for two commits to have the same ID?</a:t>
            </a:r>
          </a:p>
          <a:p>
            <a:pPr marL="0" indent="0">
              <a:buNone/>
            </a:pP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56569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CF4C5-19DD-1456-A479-EB3A5630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III – Advanced Git Features</a:t>
            </a:r>
          </a:p>
        </p:txBody>
      </p:sp>
    </p:spTree>
    <p:extLst>
      <p:ext uri="{BB962C8B-B14F-4D97-AF65-F5344CB8AC3E}">
        <p14:creationId xmlns:p14="http://schemas.microsoft.com/office/powerpoint/2010/main" val="2151990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7369EE-265F-EEE0-1CB5-630C4AA1FD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What if you want to test out a new feature without affecting your current version of the code?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What if you want to collaborate with others on separate features?</a:t>
            </a:r>
          </a:p>
          <a:p>
            <a:pPr marL="0" indent="0" algn="ctr">
              <a:buNone/>
            </a:pPr>
            <a:r>
              <a:rPr lang="en-CA" b="1" dirty="0"/>
              <a:t>Branching</a:t>
            </a:r>
            <a:r>
              <a:rPr lang="en-CA" dirty="0"/>
              <a:t> </a:t>
            </a:r>
          </a:p>
        </p:txBody>
      </p:sp>
      <p:pic>
        <p:nvPicPr>
          <p:cNvPr id="1026" name="Picture 2" descr="Git Branches - The Turing Way">
            <a:extLst>
              <a:ext uri="{FF2B5EF4-FFF2-40B4-BE49-F238E27FC236}">
                <a16:creationId xmlns:a16="http://schemas.microsoft.com/office/drawing/2014/main" id="{05CFA6F1-0672-397F-A25C-48D87B664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812" y="4387998"/>
            <a:ext cx="5123861" cy="1747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543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E01394-0E36-2559-3716-F14DDC24D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3" y="1454228"/>
            <a:ext cx="4329628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What is a Branch?</a:t>
            </a:r>
            <a:endParaRPr lang="en-CA" dirty="0"/>
          </a:p>
          <a:p>
            <a:r>
              <a:rPr lang="en-CA" dirty="0"/>
              <a:t>A specific “timeline” of your commit history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Implement new features without disrupting the release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5E6399-66DB-A4F8-1DC0-00FC1973F27D}"/>
              </a:ext>
            </a:extLst>
          </p:cNvPr>
          <p:cNvSpPr/>
          <p:nvPr/>
        </p:nvSpPr>
        <p:spPr>
          <a:xfrm>
            <a:off x="887817" y="3514865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Initial Commit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B4261-2E52-9C40-9277-26F23C24802F}"/>
              </a:ext>
            </a:extLst>
          </p:cNvPr>
          <p:cNvSpPr/>
          <p:nvPr/>
        </p:nvSpPr>
        <p:spPr>
          <a:xfrm>
            <a:off x="4678600" y="351486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Release 1.0.0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EC8056-593C-B9BA-1377-F045E09592EC}"/>
              </a:ext>
            </a:extLst>
          </p:cNvPr>
          <p:cNvSpPr/>
          <p:nvPr/>
        </p:nvSpPr>
        <p:spPr>
          <a:xfrm>
            <a:off x="2644268" y="3514865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 Commit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8E4FB43-40B0-6D12-C10C-C29B683EE88B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101906" y="3934848"/>
            <a:ext cx="5423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D8FABC-8EBD-6D54-A8C1-686FE9A951C4}"/>
              </a:ext>
            </a:extLst>
          </p:cNvPr>
          <p:cNvCxnSpPr>
            <a:stCxn id="6" idx="3"/>
            <a:endCxn id="5" idx="1"/>
          </p:cNvCxnSpPr>
          <p:nvPr/>
        </p:nvCxnSpPr>
        <p:spPr>
          <a:xfrm flipV="1">
            <a:off x="3858357" y="3934847"/>
            <a:ext cx="8202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C40E158-8C9F-850C-60D3-B6F7D7206C24}"/>
              </a:ext>
            </a:extLst>
          </p:cNvPr>
          <p:cNvSpPr/>
          <p:nvPr/>
        </p:nvSpPr>
        <p:spPr>
          <a:xfrm>
            <a:off x="5773565" y="2055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092C8B-94F3-A195-C025-D9DC43941867}"/>
              </a:ext>
            </a:extLst>
          </p:cNvPr>
          <p:cNvSpPr txBox="1"/>
          <p:nvPr/>
        </p:nvSpPr>
        <p:spPr>
          <a:xfrm>
            <a:off x="93927" y="3731673"/>
            <a:ext cx="93447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Main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03D678E-1D39-9ACD-0A50-01F9D98B82AC}"/>
              </a:ext>
            </a:extLst>
          </p:cNvPr>
          <p:cNvCxnSpPr>
            <a:stCxn id="5" idx="0"/>
            <a:endCxn id="11" idx="1"/>
          </p:cNvCxnSpPr>
          <p:nvPr/>
        </p:nvCxnSpPr>
        <p:spPr>
          <a:xfrm rot="5400000" flipH="1" flipV="1">
            <a:off x="5009924" y="2751223"/>
            <a:ext cx="1039362" cy="4879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1636B51-1429-168B-9F9C-2FFC8E1B7026}"/>
              </a:ext>
            </a:extLst>
          </p:cNvPr>
          <p:cNvSpPr txBox="1"/>
          <p:nvPr/>
        </p:nvSpPr>
        <p:spPr>
          <a:xfrm>
            <a:off x="4431419" y="2290772"/>
            <a:ext cx="93447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Dev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344BA4-D60A-AC0C-CAEB-1EBD5C824F1C}"/>
              </a:ext>
            </a:extLst>
          </p:cNvPr>
          <p:cNvSpPr/>
          <p:nvPr/>
        </p:nvSpPr>
        <p:spPr>
          <a:xfrm>
            <a:off x="7463750" y="2055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Debugged New Feature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FF158D-9C9B-1725-9745-A306D9260ABE}"/>
              </a:ext>
            </a:extLst>
          </p:cNvPr>
          <p:cNvCxnSpPr>
            <a:stCxn id="11" idx="3"/>
            <a:endCxn id="17" idx="1"/>
          </p:cNvCxnSpPr>
          <p:nvPr/>
        </p:nvCxnSpPr>
        <p:spPr>
          <a:xfrm>
            <a:off x="6987654" y="2475502"/>
            <a:ext cx="4760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16A4F342-6F22-8F2F-E322-FF4244CFB6F7}"/>
              </a:ext>
            </a:extLst>
          </p:cNvPr>
          <p:cNvSpPr/>
          <p:nvPr/>
        </p:nvSpPr>
        <p:spPr>
          <a:xfrm>
            <a:off x="6380609" y="3514863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Patched Release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70C6A20-0353-7747-4CB3-E21081A5F705}"/>
              </a:ext>
            </a:extLst>
          </p:cNvPr>
          <p:cNvCxnSpPr>
            <a:stCxn id="5" idx="3"/>
            <a:endCxn id="28" idx="1"/>
          </p:cNvCxnSpPr>
          <p:nvPr/>
        </p:nvCxnSpPr>
        <p:spPr>
          <a:xfrm flipV="1">
            <a:off x="5892689" y="3934846"/>
            <a:ext cx="4879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8B0F4AB-EE25-66FD-532A-2E976DAAB9A7}"/>
              </a:ext>
            </a:extLst>
          </p:cNvPr>
          <p:cNvSpPr/>
          <p:nvPr/>
        </p:nvSpPr>
        <p:spPr>
          <a:xfrm>
            <a:off x="7844575" y="3514865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Release</a:t>
            </a:r>
          </a:p>
          <a:p>
            <a:pPr algn="ctr"/>
            <a:r>
              <a:rPr lang="en-US" dirty="0"/>
              <a:t>1.0.1</a:t>
            </a:r>
            <a:endParaRPr lang="en-CA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31C7DEF-6191-6259-1E63-EABBE01D7939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7600615" y="3934848"/>
            <a:ext cx="243960" cy="2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7405D3D-8537-C20C-2E3C-CF45AD4D7690}"/>
              </a:ext>
            </a:extLst>
          </p:cNvPr>
          <p:cNvCxnSpPr>
            <a:stCxn id="17" idx="2"/>
            <a:endCxn id="3" idx="0"/>
          </p:cNvCxnSpPr>
          <p:nvPr/>
        </p:nvCxnSpPr>
        <p:spPr>
          <a:xfrm rot="16200000" flipH="1">
            <a:off x="7951517" y="3014762"/>
            <a:ext cx="619380" cy="3808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13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  <p:bldP spid="16" grpId="0"/>
      <p:bldP spid="17" grpId="0" animBg="1"/>
      <p:bldP spid="28" grpId="0" animBg="1"/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#3 – Create a new branch</a:t>
            </a:r>
          </a:p>
        </p:txBody>
      </p:sp>
    </p:spTree>
    <p:extLst>
      <p:ext uri="{BB962C8B-B14F-4D97-AF65-F5344CB8AC3E}">
        <p14:creationId xmlns:p14="http://schemas.microsoft.com/office/powerpoint/2010/main" val="41651733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#3 – Create a new branch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Click the “current branch” button and select “new branch”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changes to your file in the new branch and commit it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Switch back to the main branch and open the file, what do you notice?</a:t>
            </a:r>
          </a:p>
        </p:txBody>
      </p:sp>
    </p:spTree>
    <p:extLst>
      <p:ext uri="{BB962C8B-B14F-4D97-AF65-F5344CB8AC3E}">
        <p14:creationId xmlns:p14="http://schemas.microsoft.com/office/powerpoint/2010/main" val="267436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BB2CD7-D4AE-58C2-938C-F1E2066E5D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Now that your test feature works, you might want to make it part of your official release</a:t>
            </a:r>
          </a:p>
          <a:p>
            <a:pPr marL="0" indent="0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b="1" dirty="0"/>
              <a:t>Merge/Rebase</a:t>
            </a:r>
          </a:p>
        </p:txBody>
      </p:sp>
      <p:pic>
        <p:nvPicPr>
          <p:cNvPr id="2050" name="Picture 2" descr="A Practical Guide to Git History: Merge, Rebase, Squash | by Okan Yenigün |  DevOps.dev">
            <a:extLst>
              <a:ext uri="{FF2B5EF4-FFF2-40B4-BE49-F238E27FC236}">
                <a16:creationId xmlns:a16="http://schemas.microsoft.com/office/drawing/2014/main" id="{42F5112A-2153-A638-BB0D-73EAB42E04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778"/>
          <a:stretch>
            <a:fillRect/>
          </a:stretch>
        </p:blipFill>
        <p:spPr bwMode="auto">
          <a:xfrm>
            <a:off x="2285999" y="3336388"/>
            <a:ext cx="4931153" cy="2871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66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C4ED5B-D5E5-F844-809F-E08DF87B77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3" y="1454228"/>
            <a:ext cx="4078168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What is a Merge?</a:t>
            </a:r>
          </a:p>
          <a:p>
            <a:pPr marL="0" indent="0">
              <a:buNone/>
            </a:pPr>
            <a:r>
              <a:rPr lang="en-CA" dirty="0"/>
              <a:t>Action that will “merge” the commits from one branch into another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D19F52-B570-BB90-DA5E-B02330006593}"/>
              </a:ext>
            </a:extLst>
          </p:cNvPr>
          <p:cNvSpPr/>
          <p:nvPr/>
        </p:nvSpPr>
        <p:spPr>
          <a:xfrm>
            <a:off x="1424026" y="4877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Release 1.0.0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6436DD-5FA5-8054-2341-F495B29771A1}"/>
              </a:ext>
            </a:extLst>
          </p:cNvPr>
          <p:cNvSpPr/>
          <p:nvPr/>
        </p:nvSpPr>
        <p:spPr>
          <a:xfrm>
            <a:off x="2518991" y="34181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DFCC6D-7BF2-0C9B-DF3B-B0BAB7AEB297}"/>
              </a:ext>
            </a:extLst>
          </p:cNvPr>
          <p:cNvSpPr txBox="1"/>
          <p:nvPr/>
        </p:nvSpPr>
        <p:spPr>
          <a:xfrm>
            <a:off x="229520" y="5112772"/>
            <a:ext cx="93447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Main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403A2344-111C-2B84-3DD8-412E221931DB}"/>
              </a:ext>
            </a:extLst>
          </p:cNvPr>
          <p:cNvCxnSpPr>
            <a:cxnSpLocks/>
            <a:stCxn id="3" idx="0"/>
            <a:endCxn id="4" idx="1"/>
          </p:cNvCxnSpPr>
          <p:nvPr/>
        </p:nvCxnSpPr>
        <p:spPr>
          <a:xfrm rot="5400000" flipH="1" flipV="1">
            <a:off x="1755350" y="4113878"/>
            <a:ext cx="1039362" cy="4879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9B8C2A7-4EE7-8FD8-693A-EF4B4B7F89C9}"/>
              </a:ext>
            </a:extLst>
          </p:cNvPr>
          <p:cNvSpPr txBox="1"/>
          <p:nvPr/>
        </p:nvSpPr>
        <p:spPr>
          <a:xfrm>
            <a:off x="1176845" y="3653427"/>
            <a:ext cx="93447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E89531-98DF-F167-A59E-6D7FDE752908}"/>
              </a:ext>
            </a:extLst>
          </p:cNvPr>
          <p:cNvSpPr/>
          <p:nvPr/>
        </p:nvSpPr>
        <p:spPr>
          <a:xfrm>
            <a:off x="4209176" y="34181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Debugged New Feature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A88B92-48E0-1402-7D56-6F8EEAF7FB89}"/>
              </a:ext>
            </a:extLst>
          </p:cNvPr>
          <p:cNvSpPr/>
          <p:nvPr/>
        </p:nvSpPr>
        <p:spPr>
          <a:xfrm>
            <a:off x="3126035" y="4877518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Patched Release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3664D5-E59B-1EBD-80A0-82F5A5EFD0F4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 flipV="1">
            <a:off x="2638115" y="5297501"/>
            <a:ext cx="4879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F3A554-BB03-DBD2-F325-7DF2302EDBEF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733080" y="3838157"/>
            <a:ext cx="4760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9DC7703-2EF6-5EA9-CC4A-C60D23ED7D1F}"/>
              </a:ext>
            </a:extLst>
          </p:cNvPr>
          <p:cNvSpPr/>
          <p:nvPr/>
        </p:nvSpPr>
        <p:spPr>
          <a:xfrm>
            <a:off x="5898840" y="4877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Release 1.1.0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8DCFCF-79BB-95E4-97C3-23602F3682AD}"/>
              </a:ext>
            </a:extLst>
          </p:cNvPr>
          <p:cNvCxnSpPr>
            <a:stCxn id="9" idx="3"/>
            <a:endCxn id="14" idx="1"/>
          </p:cNvCxnSpPr>
          <p:nvPr/>
        </p:nvCxnSpPr>
        <p:spPr>
          <a:xfrm>
            <a:off x="4340124" y="5297501"/>
            <a:ext cx="155871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88120490-EF7C-73D6-55BD-F7433EDCDCC5}"/>
              </a:ext>
            </a:extLst>
          </p:cNvPr>
          <p:cNvCxnSpPr>
            <a:stCxn id="8" idx="3"/>
          </p:cNvCxnSpPr>
          <p:nvPr/>
        </p:nvCxnSpPr>
        <p:spPr>
          <a:xfrm flipH="1">
            <a:off x="5119482" y="3838157"/>
            <a:ext cx="303783" cy="1459343"/>
          </a:xfrm>
          <a:prstGeom prst="bentConnector4">
            <a:avLst>
              <a:gd name="adj1" fmla="val -75251"/>
              <a:gd name="adj2" fmla="val 643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D9F744A-3CE6-EF3D-850C-06ADFF08670B}"/>
              </a:ext>
            </a:extLst>
          </p:cNvPr>
          <p:cNvSpPr/>
          <p:nvPr/>
        </p:nvSpPr>
        <p:spPr>
          <a:xfrm>
            <a:off x="6405570" y="34181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 + Patch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A572D4-EA84-D614-D9A7-5AE0EAB2953A}"/>
              </a:ext>
            </a:extLst>
          </p:cNvPr>
          <p:cNvCxnSpPr>
            <a:stCxn id="8" idx="3"/>
            <a:endCxn id="20" idx="1"/>
          </p:cNvCxnSpPr>
          <p:nvPr/>
        </p:nvCxnSpPr>
        <p:spPr>
          <a:xfrm>
            <a:off x="5423265" y="3838157"/>
            <a:ext cx="9823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46FB9BDA-A5C6-4A10-3D2D-7DF06AFFE3D3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340124" y="3838157"/>
            <a:ext cx="1574293" cy="1459344"/>
          </a:xfrm>
          <a:prstGeom prst="bentConnector3">
            <a:avLst>
              <a:gd name="adj1" fmla="val 1000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2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2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#4.1 – Merging Branches</a:t>
            </a:r>
          </a:p>
        </p:txBody>
      </p:sp>
    </p:spTree>
    <p:extLst>
      <p:ext uri="{BB962C8B-B14F-4D97-AF65-F5344CB8AC3E}">
        <p14:creationId xmlns:p14="http://schemas.microsoft.com/office/powerpoint/2010/main" val="1749104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Activity #4.1 – Merging Branches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Switch to the main branch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Open the branch menu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Select the “choose a branch to merge into main” button and select your second branch.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Compare the branches again, the file should now be identical in both!</a:t>
            </a:r>
          </a:p>
        </p:txBody>
      </p:sp>
    </p:spTree>
    <p:extLst>
      <p:ext uri="{BB962C8B-B14F-4D97-AF65-F5344CB8AC3E}">
        <p14:creationId xmlns:p14="http://schemas.microsoft.com/office/powerpoint/2010/main" val="1311449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487D5F-FC03-68BB-A41E-18A16F4772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Rebasing</a:t>
            </a:r>
          </a:p>
          <a:p>
            <a:pPr marL="0" indent="0">
              <a:buNone/>
            </a:pPr>
            <a:r>
              <a:rPr lang="en-CA" dirty="0"/>
              <a:t>Rewrites the target branch’s commit history to add other commits directly</a:t>
            </a:r>
          </a:p>
          <a:p>
            <a:pPr marL="0" indent="0">
              <a:buNone/>
            </a:pPr>
            <a:r>
              <a:rPr lang="en-CA" dirty="0"/>
              <a:t>Useful for updating dev branches with new main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774D1E-53AA-FC65-15C7-CBED74D830FE}"/>
              </a:ext>
            </a:extLst>
          </p:cNvPr>
          <p:cNvSpPr/>
          <p:nvPr/>
        </p:nvSpPr>
        <p:spPr>
          <a:xfrm>
            <a:off x="1424026" y="49791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Release 1.0.0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2FE34-1D0D-79EF-BC35-C1E4CD8914B8}"/>
              </a:ext>
            </a:extLst>
          </p:cNvPr>
          <p:cNvSpPr/>
          <p:nvPr/>
        </p:nvSpPr>
        <p:spPr>
          <a:xfrm>
            <a:off x="2518991" y="35197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D5920-02E1-3CC9-1ABD-8EB5D824BA39}"/>
              </a:ext>
            </a:extLst>
          </p:cNvPr>
          <p:cNvSpPr txBox="1"/>
          <p:nvPr/>
        </p:nvSpPr>
        <p:spPr>
          <a:xfrm>
            <a:off x="290448" y="5214370"/>
            <a:ext cx="93447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Main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1CC9D5D5-D32E-6824-98C5-9D4BFE81794F}"/>
              </a:ext>
            </a:extLst>
          </p:cNvPr>
          <p:cNvCxnSpPr>
            <a:cxnSpLocks/>
            <a:stCxn id="3" idx="0"/>
            <a:endCxn id="4" idx="1"/>
          </p:cNvCxnSpPr>
          <p:nvPr/>
        </p:nvCxnSpPr>
        <p:spPr>
          <a:xfrm rot="5400000" flipH="1" flipV="1">
            <a:off x="1755350" y="4215478"/>
            <a:ext cx="1039362" cy="4879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C413E4-E416-DD54-98B3-9BE56082108C}"/>
              </a:ext>
            </a:extLst>
          </p:cNvPr>
          <p:cNvSpPr txBox="1"/>
          <p:nvPr/>
        </p:nvSpPr>
        <p:spPr>
          <a:xfrm>
            <a:off x="1176845" y="3755027"/>
            <a:ext cx="93447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B77EA1-2BAA-4F0E-AF37-7046559DEDD5}"/>
              </a:ext>
            </a:extLst>
          </p:cNvPr>
          <p:cNvSpPr/>
          <p:nvPr/>
        </p:nvSpPr>
        <p:spPr>
          <a:xfrm>
            <a:off x="4209176" y="35197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Debugged New Feature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DE8BE0-BD9E-2BB2-15A8-E8C73413F16B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638115" y="5399101"/>
            <a:ext cx="4908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425AD45-0CB7-6489-9F9B-30E145704966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3733080" y="3939757"/>
            <a:ext cx="4760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F1D212D-D57A-6288-056C-CB6CDEDC3C92}"/>
              </a:ext>
            </a:extLst>
          </p:cNvPr>
          <p:cNvSpPr/>
          <p:nvPr/>
        </p:nvSpPr>
        <p:spPr>
          <a:xfrm>
            <a:off x="3128971" y="4963778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Patched Release</a:t>
            </a:r>
          </a:p>
        </p:txBody>
      </p:sp>
    </p:spTree>
    <p:extLst>
      <p:ext uri="{BB962C8B-B14F-4D97-AF65-F5344CB8AC3E}">
        <p14:creationId xmlns:p14="http://schemas.microsoft.com/office/powerpoint/2010/main" val="22098461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12DFF-803A-ED04-ECCF-D93CB52FD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BE98F5-2BE2-AF8A-1FA0-77363CE442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Rebasing</a:t>
            </a:r>
          </a:p>
          <a:p>
            <a:pPr marL="0" indent="0">
              <a:buNone/>
            </a:pPr>
            <a:r>
              <a:rPr lang="en-CA" dirty="0"/>
              <a:t>Rewrites the target branch’s commit history to add other commits directly</a:t>
            </a:r>
          </a:p>
          <a:p>
            <a:pPr marL="0" indent="0">
              <a:buNone/>
            </a:pPr>
            <a:r>
              <a:rPr lang="en-CA" dirty="0"/>
              <a:t>Useful for updating dev branches with new main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12D62F-35B0-ACBE-4363-CA2C1041120E}"/>
              </a:ext>
            </a:extLst>
          </p:cNvPr>
          <p:cNvSpPr/>
          <p:nvPr/>
        </p:nvSpPr>
        <p:spPr>
          <a:xfrm>
            <a:off x="1424026" y="49791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Release 1.0.0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2DBF82-F560-3A67-AC19-919EEA1318F5}"/>
              </a:ext>
            </a:extLst>
          </p:cNvPr>
          <p:cNvSpPr/>
          <p:nvPr/>
        </p:nvSpPr>
        <p:spPr>
          <a:xfrm>
            <a:off x="4738016" y="35197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2B406A-1EDB-EB5B-2420-D9BDD6C173FD}"/>
              </a:ext>
            </a:extLst>
          </p:cNvPr>
          <p:cNvSpPr txBox="1"/>
          <p:nvPr/>
        </p:nvSpPr>
        <p:spPr>
          <a:xfrm>
            <a:off x="290448" y="5214370"/>
            <a:ext cx="93447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Main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B8C19822-3CFA-2A95-AF98-44B5E9AEAF7F}"/>
              </a:ext>
            </a:extLst>
          </p:cNvPr>
          <p:cNvCxnSpPr>
            <a:cxnSpLocks/>
            <a:endCxn id="4" idx="1"/>
          </p:cNvCxnSpPr>
          <p:nvPr/>
        </p:nvCxnSpPr>
        <p:spPr>
          <a:xfrm rot="5400000" flipH="1" flipV="1">
            <a:off x="3717335" y="3958438"/>
            <a:ext cx="1039362" cy="1002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701D369-EBCF-1CC5-53E6-09FFD70BB761}"/>
              </a:ext>
            </a:extLst>
          </p:cNvPr>
          <p:cNvSpPr txBox="1"/>
          <p:nvPr/>
        </p:nvSpPr>
        <p:spPr>
          <a:xfrm>
            <a:off x="1176845" y="3755027"/>
            <a:ext cx="93447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B98A08-4295-110D-53BF-291B26A9D413}"/>
              </a:ext>
            </a:extLst>
          </p:cNvPr>
          <p:cNvSpPr/>
          <p:nvPr/>
        </p:nvSpPr>
        <p:spPr>
          <a:xfrm>
            <a:off x="6425497" y="3519773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Debugged New Feature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A18DB6-BE3A-D1ED-5546-C7212C0536DA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638115" y="5399101"/>
            <a:ext cx="4908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9313149-C444-9BBA-56B4-B9E6812B1D16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5952105" y="3939756"/>
            <a:ext cx="47339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E15A547-BACE-EAB5-BCD2-51764D129DF7}"/>
              </a:ext>
            </a:extLst>
          </p:cNvPr>
          <p:cNvSpPr/>
          <p:nvPr/>
        </p:nvSpPr>
        <p:spPr>
          <a:xfrm>
            <a:off x="3128971" y="49791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Patched</a:t>
            </a:r>
          </a:p>
          <a:p>
            <a:pPr algn="ctr"/>
            <a:r>
              <a:rPr lang="en-CA" dirty="0"/>
              <a:t>Release</a:t>
            </a:r>
          </a:p>
        </p:txBody>
      </p:sp>
    </p:spTree>
    <p:extLst>
      <p:ext uri="{BB962C8B-B14F-4D97-AF65-F5344CB8AC3E}">
        <p14:creationId xmlns:p14="http://schemas.microsoft.com/office/powerpoint/2010/main" val="34555948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C70B2-B851-98DA-6DBF-98EC824BA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F5DB4C-BDD9-F1DD-F020-B867025E0E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#4.2 – Rebasing Branches</a:t>
            </a:r>
          </a:p>
        </p:txBody>
      </p:sp>
    </p:spTree>
    <p:extLst>
      <p:ext uri="{BB962C8B-B14F-4D97-AF65-F5344CB8AC3E}">
        <p14:creationId xmlns:p14="http://schemas.microsoft.com/office/powerpoint/2010/main" val="40000180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85239-0417-68B6-D0B3-B71880160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6A4DDA-E27B-AC67-461A-2D0349A5AF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Activity #4.2 – Rebasing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Create a new branch and commit some changes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Switch back to main and create a new change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Go back to the newly created branch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Open the branch menu and rebase off of main</a:t>
            </a:r>
          </a:p>
        </p:txBody>
      </p:sp>
    </p:spTree>
    <p:extLst>
      <p:ext uri="{BB962C8B-B14F-4D97-AF65-F5344CB8AC3E}">
        <p14:creationId xmlns:p14="http://schemas.microsoft.com/office/powerpoint/2010/main" val="2187777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3906F2-B82D-A404-0D59-89F450E033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Conflicts</a:t>
            </a:r>
            <a:endParaRPr lang="en-CA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If branches have competing commits, git will raise a </a:t>
            </a:r>
            <a:r>
              <a:rPr lang="en-CA" b="1" dirty="0"/>
              <a:t>conflict</a:t>
            </a:r>
            <a:r>
              <a:rPr lang="en-CA" dirty="0"/>
              <a:t> and not be able to merge/rebase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Can occur if:</a:t>
            </a:r>
          </a:p>
          <a:p>
            <a:r>
              <a:rPr lang="en-CA" dirty="0"/>
              <a:t>Both branches edit the same line</a:t>
            </a:r>
          </a:p>
          <a:p>
            <a:r>
              <a:rPr lang="en-CA" dirty="0"/>
              <a:t>Both added a file of the same name</a:t>
            </a:r>
          </a:p>
          <a:p>
            <a:r>
              <a:rPr lang="en-CA" dirty="0"/>
              <a:t>One branch edited a file, the other deleted it</a:t>
            </a:r>
          </a:p>
        </p:txBody>
      </p:sp>
    </p:spTree>
    <p:extLst>
      <p:ext uri="{BB962C8B-B14F-4D97-AF65-F5344CB8AC3E}">
        <p14:creationId xmlns:p14="http://schemas.microsoft.com/office/powerpoint/2010/main" val="3274465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#5 – Resolving Conflicts</a:t>
            </a:r>
          </a:p>
        </p:txBody>
      </p:sp>
    </p:spTree>
    <p:extLst>
      <p:ext uri="{BB962C8B-B14F-4D97-AF65-F5344CB8AC3E}">
        <p14:creationId xmlns:p14="http://schemas.microsoft.com/office/powerpoint/2010/main" val="10812455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b="1" dirty="0"/>
              <a:t>Activity #5 – Resolving Conflicts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In both branches, make a change on the </a:t>
            </a:r>
            <a:r>
              <a:rPr lang="en-CA" b="1" dirty="0"/>
              <a:t>same line</a:t>
            </a:r>
            <a:r>
              <a:rPr lang="en-CA" dirty="0"/>
              <a:t> and commit it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Try and merge your second branch into the main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When the merge conflict occurs, open the text file and resolve the issue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Try to merge again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Look at your commit history, how is your resolved merge shown in the commit?</a:t>
            </a:r>
          </a:p>
        </p:txBody>
      </p:sp>
    </p:spTree>
    <p:extLst>
      <p:ext uri="{BB962C8B-B14F-4D97-AF65-F5344CB8AC3E}">
        <p14:creationId xmlns:p14="http://schemas.microsoft.com/office/powerpoint/2010/main" val="161642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4144A5-D635-27EF-0D6C-7C4C74D501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Poll #3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What is the purpose of a merge/rebase?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T/F – Merging branches with changes in the same file will ALWAYS create a merge conflict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How could we prevent conflicts from occurring?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1731984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B4A30D-70F9-7A1B-C9A9-A96C494613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Summary</a:t>
            </a:r>
          </a:p>
          <a:p>
            <a:r>
              <a:rPr lang="en-CA" dirty="0"/>
              <a:t>Branches can be used to develop new features without affecting a previous, viable version of your code</a:t>
            </a:r>
          </a:p>
          <a:p>
            <a:endParaRPr lang="en-CA" dirty="0"/>
          </a:p>
          <a:p>
            <a:r>
              <a:rPr lang="en-CA" dirty="0"/>
              <a:t>Merges or Rebases can be used to combine the commits of two different branches</a:t>
            </a:r>
          </a:p>
          <a:p>
            <a:endParaRPr lang="en-CA" dirty="0"/>
          </a:p>
          <a:p>
            <a:r>
              <a:rPr lang="en-CA" dirty="0"/>
              <a:t>Conflicts prevent branches from being combined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64023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F4A6E-5D75-77B9-9DA7-DC7FB3315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IV – Hosting Projects on GitHub</a:t>
            </a:r>
          </a:p>
        </p:txBody>
      </p:sp>
    </p:spTree>
    <p:extLst>
      <p:ext uri="{BB962C8B-B14F-4D97-AF65-F5344CB8AC3E}">
        <p14:creationId xmlns:p14="http://schemas.microsoft.com/office/powerpoint/2010/main" val="15372939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189DB-AD21-9DB4-6CD1-353F0C2F7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GitHub Interface</a:t>
            </a:r>
          </a:p>
        </p:txBody>
      </p:sp>
    </p:spTree>
    <p:extLst>
      <p:ext uri="{BB962C8B-B14F-4D97-AF65-F5344CB8AC3E}">
        <p14:creationId xmlns:p14="http://schemas.microsoft.com/office/powerpoint/2010/main" val="11554159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5570DF-0C10-98C1-32EE-7BBAD91B3A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b="1" dirty="0"/>
              <a:t>Why use remote repositories like </a:t>
            </a:r>
            <a:r>
              <a:rPr lang="en-CA" b="1" dirty="0">
                <a:hlinkClick r:id="rId2"/>
              </a:rPr>
              <a:t>GitHub</a:t>
            </a:r>
            <a:r>
              <a:rPr lang="en-CA" b="1" dirty="0"/>
              <a:t>?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Backup for your code</a:t>
            </a:r>
          </a:p>
          <a:p>
            <a:pPr lvl="1"/>
            <a:r>
              <a:rPr lang="en-CA" dirty="0"/>
              <a:t>Can access the repository from anywhere</a:t>
            </a:r>
          </a:p>
          <a:p>
            <a:pPr lvl="1"/>
            <a:endParaRPr lang="en-CA" dirty="0"/>
          </a:p>
          <a:p>
            <a:r>
              <a:rPr lang="en-CA" dirty="0"/>
              <a:t>Collaborations</a:t>
            </a:r>
          </a:p>
          <a:p>
            <a:pPr lvl="1"/>
            <a:r>
              <a:rPr lang="en-CA" dirty="0"/>
              <a:t>Easy to keep track of changes made by you and collaborators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Open Science</a:t>
            </a:r>
          </a:p>
          <a:p>
            <a:pPr lvl="1"/>
            <a:r>
              <a:rPr lang="en-CA" dirty="0"/>
              <a:t>Easy to access, download and use others’ code</a:t>
            </a:r>
          </a:p>
          <a:p>
            <a:pPr lvl="1"/>
            <a:r>
              <a:rPr lang="en-CA" dirty="0"/>
              <a:t>Easy to discuss with </a:t>
            </a:r>
            <a:r>
              <a:rPr lang="en-CA" b="1" dirty="0"/>
              <a:t>users</a:t>
            </a:r>
            <a:r>
              <a:rPr lang="en-CA" dirty="0"/>
              <a:t> of your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C61540-AADC-A396-B1DA-CE621B8FD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2651760" cy="13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16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D8EFDB-45D2-9A4A-6FA9-789D807BF0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Pushing and Pulling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b="1" dirty="0"/>
              <a:t>Push: </a:t>
            </a:r>
            <a:r>
              <a:rPr lang="en-CA" dirty="0"/>
              <a:t>Updates your </a:t>
            </a:r>
            <a:r>
              <a:rPr lang="en-CA" b="1" dirty="0"/>
              <a:t>remote</a:t>
            </a:r>
            <a:r>
              <a:rPr lang="en-CA" dirty="0"/>
              <a:t> repository with recent commits from your </a:t>
            </a:r>
            <a:r>
              <a:rPr lang="en-CA" b="1" dirty="0"/>
              <a:t>local </a:t>
            </a:r>
            <a:r>
              <a:rPr lang="en-CA" dirty="0"/>
              <a:t>repository</a:t>
            </a:r>
          </a:p>
          <a:p>
            <a:endParaRPr lang="en-CA" dirty="0"/>
          </a:p>
          <a:p>
            <a:r>
              <a:rPr lang="en-CA" b="1" dirty="0"/>
              <a:t>Pull:  </a:t>
            </a:r>
            <a:r>
              <a:rPr lang="en-CA" dirty="0"/>
              <a:t>Updates your </a:t>
            </a:r>
            <a:r>
              <a:rPr lang="en-CA" b="1" dirty="0"/>
              <a:t>local </a:t>
            </a:r>
            <a:r>
              <a:rPr lang="en-CA" dirty="0"/>
              <a:t>repository with recent commits from your </a:t>
            </a:r>
            <a:r>
              <a:rPr lang="en-CA" b="1" dirty="0"/>
              <a:t>remote repository</a:t>
            </a:r>
          </a:p>
          <a:p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9440762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8E5A9-7E25-448A-7B25-CD115DD46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8092D08-67DA-D995-2333-15A98C0626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Local-Remote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89FD5C-1B1C-0943-E58D-6C90F6D5ECC5}"/>
              </a:ext>
            </a:extLst>
          </p:cNvPr>
          <p:cNvSpPr/>
          <p:nvPr/>
        </p:nvSpPr>
        <p:spPr>
          <a:xfrm>
            <a:off x="103058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E4A995-45A3-3016-B102-029E5E8B7900}"/>
              </a:ext>
            </a:extLst>
          </p:cNvPr>
          <p:cNvSpPr/>
          <p:nvPr/>
        </p:nvSpPr>
        <p:spPr>
          <a:xfrm>
            <a:off x="103058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122295-DCD8-531A-047B-A6F24F0E86C0}"/>
              </a:ext>
            </a:extLst>
          </p:cNvPr>
          <p:cNvSpPr/>
          <p:nvPr/>
        </p:nvSpPr>
        <p:spPr>
          <a:xfrm>
            <a:off x="2844594" y="2151940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Staging</a:t>
            </a:r>
          </a:p>
          <a:p>
            <a:pPr algn="ctr"/>
            <a:r>
              <a:rPr lang="en-CA" b="1" dirty="0"/>
              <a:t>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EA48D2-717A-EF4B-6C95-ED07BAC77DCC}"/>
              </a:ext>
            </a:extLst>
          </p:cNvPr>
          <p:cNvSpPr/>
          <p:nvPr/>
        </p:nvSpPr>
        <p:spPr>
          <a:xfrm>
            <a:off x="5616585" y="2151941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06530B-07DE-84FC-3D17-2479EBA4439C}"/>
              </a:ext>
            </a:extLst>
          </p:cNvPr>
          <p:cNvSpPr/>
          <p:nvPr/>
        </p:nvSpPr>
        <p:spPr>
          <a:xfrm>
            <a:off x="2844594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560C6-C3E4-A743-711F-638F06422DB1}"/>
              </a:ext>
            </a:extLst>
          </p:cNvPr>
          <p:cNvSpPr/>
          <p:nvPr/>
        </p:nvSpPr>
        <p:spPr>
          <a:xfrm>
            <a:off x="5616585" y="387814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C50361D-503F-A243-28C1-C2C4587C1FEE}"/>
              </a:ext>
            </a:extLst>
          </p:cNvPr>
          <p:cNvSpPr/>
          <p:nvPr/>
        </p:nvSpPr>
        <p:spPr>
          <a:xfrm>
            <a:off x="1668938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Add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9377387-540B-D1F4-F0FC-F3F05FDC8658}"/>
              </a:ext>
            </a:extLst>
          </p:cNvPr>
          <p:cNvSpPr/>
          <p:nvPr/>
        </p:nvSpPr>
        <p:spPr>
          <a:xfrm>
            <a:off x="4421470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Commit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2557FA-A634-3056-A759-CF2FDDE370B5}"/>
              </a:ext>
            </a:extLst>
          </p:cNvPr>
          <p:cNvSpPr/>
          <p:nvPr/>
        </p:nvSpPr>
        <p:spPr>
          <a:xfrm>
            <a:off x="7475062" y="2155578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Remote Repository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4A7F39-4297-5FB4-6439-78AD4CB5D9ED}"/>
              </a:ext>
            </a:extLst>
          </p:cNvPr>
          <p:cNvSpPr/>
          <p:nvPr/>
        </p:nvSpPr>
        <p:spPr>
          <a:xfrm>
            <a:off x="102545" y="5115638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b="1" dirty="0"/>
              <a:t>TRACKED</a:t>
            </a:r>
          </a:p>
        </p:txBody>
      </p:sp>
    </p:spTree>
    <p:extLst>
      <p:ext uri="{BB962C8B-B14F-4D97-AF65-F5344CB8AC3E}">
        <p14:creationId xmlns:p14="http://schemas.microsoft.com/office/powerpoint/2010/main" val="54100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1" grpId="0" animBg="1"/>
      <p:bldP spid="11" grpId="1" animBg="1"/>
      <p:bldP spid="12" grpId="0" animBg="1"/>
      <p:bldP spid="10" grpId="0" animBg="1"/>
      <p:bldP spid="17" grpId="0" animBg="1"/>
      <p:bldP spid="9" grpId="0" animBg="1"/>
      <p:bldP spid="2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E46BF-22A7-AB6C-E478-F5BD19FC7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A9472F-27DD-9330-5EBF-5B3ADD486A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Local-Remote Pipeline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983CB1-A306-3A99-9B8B-A00C4BFC284F}"/>
              </a:ext>
            </a:extLst>
          </p:cNvPr>
          <p:cNvSpPr/>
          <p:nvPr/>
        </p:nvSpPr>
        <p:spPr>
          <a:xfrm>
            <a:off x="103058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38B8F8-A2F3-6BA2-8E50-3C580798A0FA}"/>
              </a:ext>
            </a:extLst>
          </p:cNvPr>
          <p:cNvSpPr/>
          <p:nvPr/>
        </p:nvSpPr>
        <p:spPr>
          <a:xfrm>
            <a:off x="3967707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EB4851-1838-481C-C2E7-45B516347DD0}"/>
              </a:ext>
            </a:extLst>
          </p:cNvPr>
          <p:cNvSpPr/>
          <p:nvPr/>
        </p:nvSpPr>
        <p:spPr>
          <a:xfrm>
            <a:off x="3967707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E332E-BB6B-AC15-8A34-BC52A0C8DC9F}"/>
              </a:ext>
            </a:extLst>
          </p:cNvPr>
          <p:cNvSpPr/>
          <p:nvPr/>
        </p:nvSpPr>
        <p:spPr>
          <a:xfrm>
            <a:off x="6858836" y="2155578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Remote Repository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9391B9-CF51-2B02-12A5-994D55E2F882}"/>
              </a:ext>
            </a:extLst>
          </p:cNvPr>
          <p:cNvSpPr/>
          <p:nvPr/>
        </p:nvSpPr>
        <p:spPr>
          <a:xfrm>
            <a:off x="102545" y="5115638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b="1" dirty="0"/>
              <a:t>TRACKED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C6D6AA4-FCD9-368B-D3DC-865EC217CA72}"/>
              </a:ext>
            </a:extLst>
          </p:cNvPr>
          <p:cNvSpPr/>
          <p:nvPr/>
        </p:nvSpPr>
        <p:spPr>
          <a:xfrm>
            <a:off x="5672901" y="2395736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Push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69CF77-74E5-003E-DAD0-B27DFFF5F911}"/>
              </a:ext>
            </a:extLst>
          </p:cNvPr>
          <p:cNvSpPr/>
          <p:nvPr/>
        </p:nvSpPr>
        <p:spPr>
          <a:xfrm>
            <a:off x="6858836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5B15BE-20F8-7CA6-3536-450539859600}"/>
              </a:ext>
            </a:extLst>
          </p:cNvPr>
          <p:cNvSpPr/>
          <p:nvPr/>
        </p:nvSpPr>
        <p:spPr>
          <a:xfrm>
            <a:off x="6858836" y="519016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18FAAC4-89CE-0857-995C-1AB8A26A6D7C}"/>
              </a:ext>
            </a:extLst>
          </p:cNvPr>
          <p:cNvSpPr/>
          <p:nvPr/>
        </p:nvSpPr>
        <p:spPr>
          <a:xfrm flipH="1">
            <a:off x="5557909" y="2395736"/>
            <a:ext cx="1276605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Pull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88328C-E760-F314-5294-67FE68CF98E3}"/>
              </a:ext>
            </a:extLst>
          </p:cNvPr>
          <p:cNvSpPr/>
          <p:nvPr/>
        </p:nvSpPr>
        <p:spPr>
          <a:xfrm>
            <a:off x="3967707" y="512836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5C5C27-F5A5-100F-7C29-1642F2BC621C}"/>
              </a:ext>
            </a:extLst>
          </p:cNvPr>
          <p:cNvSpPr/>
          <p:nvPr/>
        </p:nvSpPr>
        <p:spPr>
          <a:xfrm>
            <a:off x="102545" y="511563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7CC6A5-611B-F965-86CE-B53C9C2260FB}"/>
              </a:ext>
            </a:extLst>
          </p:cNvPr>
          <p:cNvSpPr/>
          <p:nvPr/>
        </p:nvSpPr>
        <p:spPr>
          <a:xfrm>
            <a:off x="2061654" y="2151940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Staging</a:t>
            </a:r>
          </a:p>
          <a:p>
            <a:pPr algn="ctr"/>
            <a:r>
              <a:rPr lang="en-CA" b="1" dirty="0"/>
              <a:t>Area</a:t>
            </a:r>
          </a:p>
        </p:txBody>
      </p:sp>
    </p:spTree>
    <p:extLst>
      <p:ext uri="{BB962C8B-B14F-4D97-AF65-F5344CB8AC3E}">
        <p14:creationId xmlns:p14="http://schemas.microsoft.com/office/powerpoint/2010/main" val="1247047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#6 – Pushing commits to GitHub</a:t>
            </a:r>
          </a:p>
        </p:txBody>
      </p:sp>
    </p:spTree>
    <p:extLst>
      <p:ext uri="{BB962C8B-B14F-4D97-AF65-F5344CB8AC3E}">
        <p14:creationId xmlns:p14="http://schemas.microsoft.com/office/powerpoint/2010/main" val="26116912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#6 – Pushing commits to GitHub</a:t>
            </a:r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Click the “Publish Repository” button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Now open your GitHub account in the browser and find your repository. See if your commit history is the same as in your local repo.</a:t>
            </a:r>
          </a:p>
        </p:txBody>
      </p:sp>
    </p:spTree>
    <p:extLst>
      <p:ext uri="{BB962C8B-B14F-4D97-AF65-F5344CB8AC3E}">
        <p14:creationId xmlns:p14="http://schemas.microsoft.com/office/powerpoint/2010/main" val="1796213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#7 – Pulling Commits from GitHub</a:t>
            </a:r>
          </a:p>
        </p:txBody>
      </p:sp>
    </p:spTree>
    <p:extLst>
      <p:ext uri="{BB962C8B-B14F-4D97-AF65-F5344CB8AC3E}">
        <p14:creationId xmlns:p14="http://schemas.microsoft.com/office/powerpoint/2010/main" val="34586763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#7 – Pulling Commits from GitHub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From the GitHub website, open your file and select the edit option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 change to the file and commit it.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Return to the desktop app and do Repository -&gt; Pull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Look at your commit history and your file, what do you see?</a:t>
            </a:r>
          </a:p>
        </p:txBody>
      </p:sp>
    </p:spTree>
    <p:extLst>
      <p:ext uri="{BB962C8B-B14F-4D97-AF65-F5344CB8AC3E}">
        <p14:creationId xmlns:p14="http://schemas.microsoft.com/office/powerpoint/2010/main" val="351368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0D3537-42A9-8B9E-5B6A-D3C1F0BBB0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Create a local copy of a GitHub Repository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“Cloning”</a:t>
            </a:r>
          </a:p>
          <a:p>
            <a:r>
              <a:rPr lang="en-CA" dirty="0"/>
              <a:t>Usually done to </a:t>
            </a:r>
            <a:r>
              <a:rPr lang="en-CA" b="1" dirty="0"/>
              <a:t>use</a:t>
            </a:r>
            <a:r>
              <a:rPr lang="en-CA" dirty="0"/>
              <a:t> published code</a:t>
            </a:r>
          </a:p>
          <a:p>
            <a:pPr lvl="1"/>
            <a:r>
              <a:rPr lang="en-CA" dirty="0"/>
              <a:t>Reproduce results</a:t>
            </a:r>
          </a:p>
          <a:p>
            <a:pPr lvl="1"/>
            <a:r>
              <a:rPr lang="en-CA" dirty="0"/>
              <a:t>Use code on a dataset of interest</a:t>
            </a:r>
          </a:p>
          <a:p>
            <a:pPr lvl="1"/>
            <a:endParaRPr lang="en-CA" dirty="0"/>
          </a:p>
          <a:p>
            <a:r>
              <a:rPr lang="en-CA" dirty="0"/>
              <a:t>Creates a </a:t>
            </a:r>
            <a:r>
              <a:rPr lang="en-CA" b="1" dirty="0"/>
              <a:t>direct link </a:t>
            </a:r>
            <a:r>
              <a:rPr lang="en-CA" dirty="0"/>
              <a:t>to the original repository</a:t>
            </a:r>
          </a:p>
          <a:p>
            <a:pPr lvl="1"/>
            <a:r>
              <a:rPr lang="en-CA" dirty="0"/>
              <a:t>Anything changes you </a:t>
            </a:r>
            <a:r>
              <a:rPr lang="en-CA" b="1" dirty="0"/>
              <a:t>push</a:t>
            </a:r>
            <a:r>
              <a:rPr lang="en-CA" dirty="0"/>
              <a:t> will affect the original repository</a:t>
            </a:r>
          </a:p>
          <a:p>
            <a:pPr lvl="1"/>
            <a:r>
              <a:rPr lang="en-CA" dirty="0"/>
              <a:t>Any changes in the original repo can be </a:t>
            </a:r>
            <a:r>
              <a:rPr lang="en-CA" b="1" dirty="0"/>
              <a:t>pulled</a:t>
            </a:r>
            <a:r>
              <a:rPr lang="en-CA" dirty="0"/>
              <a:t> into your clone</a:t>
            </a:r>
          </a:p>
          <a:p>
            <a:pPr lvl="1"/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134023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B21BB-E558-B912-DD8B-447249FE3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92A8EB-6AAC-9408-314E-D0E7244B69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Cloning a Repository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B02BA0-CAA0-9D83-8C0A-81CFFC68802C}"/>
              </a:ext>
            </a:extLst>
          </p:cNvPr>
          <p:cNvSpPr/>
          <p:nvPr/>
        </p:nvSpPr>
        <p:spPr>
          <a:xfrm>
            <a:off x="103058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D90FAF-0424-42FF-4C63-209A8DEB26FB}"/>
              </a:ext>
            </a:extLst>
          </p:cNvPr>
          <p:cNvSpPr/>
          <p:nvPr/>
        </p:nvSpPr>
        <p:spPr>
          <a:xfrm>
            <a:off x="2294756" y="2142856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FB393A-C005-CFC6-898D-8F692B8BFCE4}"/>
              </a:ext>
            </a:extLst>
          </p:cNvPr>
          <p:cNvSpPr/>
          <p:nvPr/>
        </p:nvSpPr>
        <p:spPr>
          <a:xfrm>
            <a:off x="2294756" y="3865421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335A5E-B72C-FDDF-2071-2B37F23D0634}"/>
              </a:ext>
            </a:extLst>
          </p:cNvPr>
          <p:cNvSpPr/>
          <p:nvPr/>
        </p:nvSpPr>
        <p:spPr>
          <a:xfrm>
            <a:off x="6858836" y="2155578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Remote Repository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D20B06A-B1D6-357A-3806-A562C8F10D40}"/>
              </a:ext>
            </a:extLst>
          </p:cNvPr>
          <p:cNvSpPr/>
          <p:nvPr/>
        </p:nvSpPr>
        <p:spPr>
          <a:xfrm flipH="1">
            <a:off x="4809580" y="3644138"/>
            <a:ext cx="1319562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Clone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BA0DF7-3263-168D-9EDF-5D871B6BC3E0}"/>
              </a:ext>
            </a:extLst>
          </p:cNvPr>
          <p:cNvSpPr/>
          <p:nvPr/>
        </p:nvSpPr>
        <p:spPr>
          <a:xfrm>
            <a:off x="6858836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B9BE7F-141B-4855-6566-156FC60A07AE}"/>
              </a:ext>
            </a:extLst>
          </p:cNvPr>
          <p:cNvSpPr/>
          <p:nvPr/>
        </p:nvSpPr>
        <p:spPr>
          <a:xfrm>
            <a:off x="6858836" y="519016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EEE4C1-7EC3-8C9D-69FC-B497FDFE3B2A}"/>
              </a:ext>
            </a:extLst>
          </p:cNvPr>
          <p:cNvSpPr/>
          <p:nvPr/>
        </p:nvSpPr>
        <p:spPr>
          <a:xfrm>
            <a:off x="2294756" y="5115638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76E2B8-58BD-C275-34F0-870304551175}"/>
              </a:ext>
            </a:extLst>
          </p:cNvPr>
          <p:cNvSpPr/>
          <p:nvPr/>
        </p:nvSpPr>
        <p:spPr>
          <a:xfrm>
            <a:off x="103058" y="511563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</p:spTree>
    <p:extLst>
      <p:ext uri="{BB962C8B-B14F-4D97-AF65-F5344CB8AC3E}">
        <p14:creationId xmlns:p14="http://schemas.microsoft.com/office/powerpoint/2010/main" val="308128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4" grpId="0" animBg="1"/>
      <p:bldP spid="15" grpId="0" animBg="1"/>
      <p:bldP spid="1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#8 – Clone a Repository</a:t>
            </a:r>
          </a:p>
          <a:p>
            <a:pPr marL="0" indent="0">
              <a:buNone/>
            </a:pPr>
            <a:r>
              <a:rPr lang="en-CA" dirty="0"/>
              <a:t>- Find a GitHub repo that interests you and clone it!</a:t>
            </a:r>
          </a:p>
        </p:txBody>
      </p:sp>
    </p:spTree>
    <p:extLst>
      <p:ext uri="{BB962C8B-B14F-4D97-AF65-F5344CB8AC3E}">
        <p14:creationId xmlns:p14="http://schemas.microsoft.com/office/powerpoint/2010/main" val="3085617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3531" y="1429290"/>
            <a:ext cx="8776937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Activity #8 – Clone a Repository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Go to the GitHub website and search for a repo that interests you.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Copy the repo’s URL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In the Desktop App, do File </a:t>
            </a:r>
            <a:r>
              <a:rPr lang="en-CA" dirty="0">
                <a:sym typeface="Wingdings" panose="05000000000000000000" pitchFamily="2" charset="2"/>
              </a:rPr>
              <a:t> Clone a repository and paste the URL. (or on command line do `git clone URL`)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sym typeface="Wingdings" panose="05000000000000000000" pitchFamily="2" charset="2"/>
              </a:rPr>
              <a:t>Open the cloned repo and explore!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Alternatively can check my GitHub page to clone</a:t>
            </a:r>
          </a:p>
        </p:txBody>
      </p:sp>
    </p:spTree>
    <p:extLst>
      <p:ext uri="{BB962C8B-B14F-4D97-AF65-F5344CB8AC3E}">
        <p14:creationId xmlns:p14="http://schemas.microsoft.com/office/powerpoint/2010/main" val="580897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71EF3-0F20-C46E-FDC8-FBA3BCA03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3751EF-D081-B173-BEF1-BAD54401CD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Contributing to shared projects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Repo owner can add ‘collaborators’ with push privileges</a:t>
            </a:r>
          </a:p>
          <a:p>
            <a:endParaRPr lang="en-CA" dirty="0"/>
          </a:p>
          <a:p>
            <a:r>
              <a:rPr lang="en-CA" dirty="0"/>
              <a:t>Collaborators can then push changes from their cloned copy of the repo</a:t>
            </a:r>
          </a:p>
          <a:p>
            <a:endParaRPr lang="en-CA" dirty="0"/>
          </a:p>
          <a:p>
            <a:r>
              <a:rPr lang="en-CA" dirty="0"/>
              <a:t>ALWAYS make changes in a NEW BRANCH</a:t>
            </a:r>
          </a:p>
          <a:p>
            <a:pPr lvl="1"/>
            <a:r>
              <a:rPr lang="en-CA" dirty="0"/>
              <a:t>Avoids merge conflicts and errors/bugs entering main branch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8646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368447F-C531-92C9-0376-B1178B60E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F55FDA-5B7A-0A15-4B0E-B0E183049B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#9.1 – Contribute to a shared repo</a:t>
            </a:r>
          </a:p>
          <a:p>
            <a:pPr marL="0" indent="0">
              <a:buNone/>
            </a:pPr>
            <a:r>
              <a:rPr lang="en-CA" b="1" dirty="0"/>
              <a:t>- </a:t>
            </a:r>
            <a:r>
              <a:rPr lang="en-CA" dirty="0"/>
              <a:t>Work in teams to contribute to a shared repository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35925772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4ED6A5C-FDB1-D62E-9712-30EB3B850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A0D635-8BC3-9E74-7C31-B9DEB91359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Example Activities (Data Analysis // Database curation) are stored in ‘Exercises’ folder for this workshop’s repo.</a:t>
            </a:r>
          </a:p>
          <a:p>
            <a:pPr lvl="1"/>
            <a:r>
              <a:rPr lang="en-CA" dirty="0">
                <a:hlinkClick r:id="rId3"/>
              </a:rPr>
              <a:t>https://github.com/ehuan2/IntroToGitHub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b="1" dirty="0"/>
              <a:t>Task </a:t>
            </a:r>
            <a:r>
              <a:rPr lang="en-CA" dirty="0"/>
              <a:t>– as a team, create a remote repo and collaborate to extend it using pull requests.</a:t>
            </a:r>
          </a:p>
          <a:p>
            <a:pPr marL="971438" lvl="1" indent="-514350">
              <a:buFont typeface="+mj-lt"/>
              <a:buAutoNum type="alphaLcParenR"/>
            </a:pPr>
            <a:r>
              <a:rPr lang="en-CA" dirty="0"/>
              <a:t>One user will create a base repo</a:t>
            </a:r>
          </a:p>
          <a:p>
            <a:pPr marL="971438" lvl="1" indent="-514350">
              <a:buFont typeface="+mj-lt"/>
              <a:buAutoNum type="alphaLcParenR"/>
            </a:pPr>
            <a:r>
              <a:rPr lang="en-CA" dirty="0"/>
              <a:t>The repo owner will add other members as repo collaborators</a:t>
            </a:r>
          </a:p>
          <a:p>
            <a:pPr marL="971438" lvl="1" indent="-514350">
              <a:buFont typeface="+mj-lt"/>
              <a:buAutoNum type="alphaLcParenR"/>
            </a:pPr>
            <a:r>
              <a:rPr lang="en-CA" dirty="0"/>
              <a:t>Make your changes in a </a:t>
            </a:r>
            <a:r>
              <a:rPr lang="en-CA" b="1" dirty="0"/>
              <a:t>separate branch</a:t>
            </a:r>
            <a:r>
              <a:rPr lang="en-CA" dirty="0"/>
              <a:t> and push the changes to the remote repository</a:t>
            </a:r>
          </a:p>
        </p:txBody>
      </p:sp>
    </p:spTree>
    <p:extLst>
      <p:ext uri="{BB962C8B-B14F-4D97-AF65-F5344CB8AC3E}">
        <p14:creationId xmlns:p14="http://schemas.microsoft.com/office/powerpoint/2010/main" val="10711824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3CE1A8-4666-C14A-4847-394F06186E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Contributing to shared projects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We saw earlier that we can create merge conflicts</a:t>
            </a:r>
          </a:p>
          <a:p>
            <a:endParaRPr lang="en-CA" dirty="0"/>
          </a:p>
          <a:p>
            <a:r>
              <a:rPr lang="en-CA" dirty="0"/>
              <a:t>How can we regulate this when working in teams?</a:t>
            </a:r>
          </a:p>
          <a:p>
            <a:pPr lvl="1"/>
            <a:r>
              <a:rPr lang="en-CA" dirty="0"/>
              <a:t>What if our ‘team’ can be anyone from the community?</a:t>
            </a:r>
          </a:p>
          <a:p>
            <a:endParaRPr lang="en-CA" b="1" dirty="0"/>
          </a:p>
          <a:p>
            <a:pPr marL="0" indent="0">
              <a:buNone/>
            </a:pPr>
            <a:r>
              <a:rPr lang="en-CA" b="1" dirty="0"/>
              <a:t>Forks &amp; Pull Requests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96863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A3B215-D3E5-9742-8F28-D911BF630D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Create a remote copy of a GitHub Repository</a:t>
            </a:r>
          </a:p>
          <a:p>
            <a:r>
              <a:rPr lang="en-CA" dirty="0"/>
              <a:t>“Fork”</a:t>
            </a:r>
          </a:p>
          <a:p>
            <a:endParaRPr lang="en-CA" dirty="0"/>
          </a:p>
          <a:p>
            <a:r>
              <a:rPr lang="en-CA" dirty="0"/>
              <a:t>Usually used to </a:t>
            </a:r>
            <a:r>
              <a:rPr lang="en-CA" b="1" dirty="0"/>
              <a:t>contribute</a:t>
            </a:r>
            <a:r>
              <a:rPr lang="en-CA" dirty="0"/>
              <a:t> to published code</a:t>
            </a:r>
          </a:p>
          <a:p>
            <a:pPr lvl="1"/>
            <a:r>
              <a:rPr lang="en-CA" dirty="0"/>
              <a:t>Can then edit the forked repository locally</a:t>
            </a:r>
          </a:p>
          <a:p>
            <a:pPr lvl="1"/>
            <a:r>
              <a:rPr lang="en-CA" dirty="0"/>
              <a:t>Can then </a:t>
            </a:r>
            <a:r>
              <a:rPr lang="en-CA" b="1" dirty="0"/>
              <a:t>push </a:t>
            </a:r>
            <a:r>
              <a:rPr lang="en-CA" dirty="0"/>
              <a:t>local changes to your forked copy</a:t>
            </a:r>
          </a:p>
          <a:p>
            <a:pPr lvl="1"/>
            <a:r>
              <a:rPr lang="en-CA" dirty="0"/>
              <a:t>When your changes are done, you can make a </a:t>
            </a:r>
            <a:r>
              <a:rPr lang="en-CA" b="1" dirty="0"/>
              <a:t>pull request</a:t>
            </a:r>
            <a:r>
              <a:rPr lang="en-CA" dirty="0"/>
              <a:t> to add your changes to the original repo</a:t>
            </a:r>
          </a:p>
          <a:p>
            <a:pPr lvl="1"/>
            <a:endParaRPr lang="en-CA" dirty="0"/>
          </a:p>
          <a:p>
            <a:r>
              <a:rPr lang="en-CA" dirty="0"/>
              <a:t>Much safer way to contribute to source code</a:t>
            </a:r>
          </a:p>
        </p:txBody>
      </p:sp>
    </p:spTree>
    <p:extLst>
      <p:ext uri="{BB962C8B-B14F-4D97-AF65-F5344CB8AC3E}">
        <p14:creationId xmlns:p14="http://schemas.microsoft.com/office/powerpoint/2010/main" val="17219167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29308-8326-9CDF-4F36-5545418B6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327056-086E-0BAA-BFC7-E2DB65B42A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Forking a Repository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DF9EB4-9EAE-D4A6-4906-69E8AC7F3877}"/>
              </a:ext>
            </a:extLst>
          </p:cNvPr>
          <p:cNvSpPr/>
          <p:nvPr/>
        </p:nvSpPr>
        <p:spPr>
          <a:xfrm>
            <a:off x="103058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6A5B4A-E51B-BCD7-E861-F8C120510222}"/>
              </a:ext>
            </a:extLst>
          </p:cNvPr>
          <p:cNvSpPr/>
          <p:nvPr/>
        </p:nvSpPr>
        <p:spPr>
          <a:xfrm>
            <a:off x="1808252" y="2142855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2E84C4-E87C-029E-13A1-E98026D3DE90}"/>
              </a:ext>
            </a:extLst>
          </p:cNvPr>
          <p:cNvSpPr/>
          <p:nvPr/>
        </p:nvSpPr>
        <p:spPr>
          <a:xfrm>
            <a:off x="1808252" y="386542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202602-E633-623C-94EC-A9071AAF522E}"/>
              </a:ext>
            </a:extLst>
          </p:cNvPr>
          <p:cNvSpPr/>
          <p:nvPr/>
        </p:nvSpPr>
        <p:spPr>
          <a:xfrm>
            <a:off x="4532513" y="2142855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Forked Remote Repository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0B58EDC-2E7F-E374-8178-F6A1213F9BDA}"/>
              </a:ext>
            </a:extLst>
          </p:cNvPr>
          <p:cNvSpPr/>
          <p:nvPr/>
        </p:nvSpPr>
        <p:spPr>
          <a:xfrm flipH="1">
            <a:off x="3497291" y="4096719"/>
            <a:ext cx="965379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Clone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11B9C0-E156-4030-32F2-CCD3E9A0E1AC}"/>
              </a:ext>
            </a:extLst>
          </p:cNvPr>
          <p:cNvSpPr/>
          <p:nvPr/>
        </p:nvSpPr>
        <p:spPr>
          <a:xfrm>
            <a:off x="4532513" y="386542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3B0C14-EC45-C1B3-B440-AFF446A5043A}"/>
              </a:ext>
            </a:extLst>
          </p:cNvPr>
          <p:cNvSpPr/>
          <p:nvPr/>
        </p:nvSpPr>
        <p:spPr>
          <a:xfrm>
            <a:off x="1808252" y="511563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0A8E03-CDF3-86A8-1979-31EE09F54A55}"/>
              </a:ext>
            </a:extLst>
          </p:cNvPr>
          <p:cNvSpPr/>
          <p:nvPr/>
        </p:nvSpPr>
        <p:spPr>
          <a:xfrm>
            <a:off x="103058" y="511563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9BDE35-4F6E-0CA3-1EAB-B0C68844F5E5}"/>
              </a:ext>
            </a:extLst>
          </p:cNvPr>
          <p:cNvSpPr/>
          <p:nvPr/>
        </p:nvSpPr>
        <p:spPr>
          <a:xfrm>
            <a:off x="7474549" y="2142855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Original Remote Repository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2498C3-39EA-3757-91F0-5E894F164D63}"/>
              </a:ext>
            </a:extLst>
          </p:cNvPr>
          <p:cNvSpPr/>
          <p:nvPr/>
        </p:nvSpPr>
        <p:spPr>
          <a:xfrm>
            <a:off x="7474549" y="386542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DF5BDB1-7E4C-F4D8-09E1-867DC3C4E4BF}"/>
              </a:ext>
            </a:extLst>
          </p:cNvPr>
          <p:cNvSpPr/>
          <p:nvPr/>
        </p:nvSpPr>
        <p:spPr>
          <a:xfrm flipH="1">
            <a:off x="6168236" y="4096719"/>
            <a:ext cx="965380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Fork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A1DD27-8D26-7FD5-35F6-A6583E8A734E}"/>
              </a:ext>
            </a:extLst>
          </p:cNvPr>
          <p:cNvSpPr/>
          <p:nvPr/>
        </p:nvSpPr>
        <p:spPr>
          <a:xfrm>
            <a:off x="4532512" y="1517080"/>
            <a:ext cx="4507917" cy="2769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All on GitHub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FFB0D2-2830-0605-990B-42E05B7BDC01}"/>
              </a:ext>
            </a:extLst>
          </p:cNvPr>
          <p:cNvSpPr/>
          <p:nvPr/>
        </p:nvSpPr>
        <p:spPr>
          <a:xfrm>
            <a:off x="4532514" y="1840752"/>
            <a:ext cx="1565880" cy="2769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You</a:t>
            </a:r>
            <a:endParaRPr lang="en-US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1B8D9E-9FF9-5020-B205-5533830B2D6E}"/>
              </a:ext>
            </a:extLst>
          </p:cNvPr>
          <p:cNvSpPr/>
          <p:nvPr/>
        </p:nvSpPr>
        <p:spPr>
          <a:xfrm>
            <a:off x="7474549" y="1844847"/>
            <a:ext cx="1565880" cy="2769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Collaborator</a:t>
            </a:r>
            <a:endParaRPr lang="en-US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138955-5E21-03A8-9E75-1292140A97F6}"/>
              </a:ext>
            </a:extLst>
          </p:cNvPr>
          <p:cNvSpPr/>
          <p:nvPr/>
        </p:nvSpPr>
        <p:spPr>
          <a:xfrm>
            <a:off x="102686" y="3879985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CEC472-B996-2558-C5C4-28815DE9BD57}"/>
              </a:ext>
            </a:extLst>
          </p:cNvPr>
          <p:cNvSpPr/>
          <p:nvPr/>
        </p:nvSpPr>
        <p:spPr>
          <a:xfrm>
            <a:off x="4532512" y="512882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77C1E9-4B71-A572-8681-EA9E6C50467D}"/>
              </a:ext>
            </a:extLst>
          </p:cNvPr>
          <p:cNvSpPr/>
          <p:nvPr/>
        </p:nvSpPr>
        <p:spPr>
          <a:xfrm>
            <a:off x="7474549" y="5111549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7B390FAE-3F3A-0750-4D4D-F0FD3D95DE07}"/>
              </a:ext>
            </a:extLst>
          </p:cNvPr>
          <p:cNvSpPr/>
          <p:nvPr/>
        </p:nvSpPr>
        <p:spPr>
          <a:xfrm>
            <a:off x="3441112" y="5315720"/>
            <a:ext cx="1056479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Push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80E888A5-8062-BFFF-E394-F8F08FDD80C6}"/>
              </a:ext>
            </a:extLst>
          </p:cNvPr>
          <p:cNvSpPr/>
          <p:nvPr/>
        </p:nvSpPr>
        <p:spPr>
          <a:xfrm>
            <a:off x="6181516" y="5340920"/>
            <a:ext cx="1190440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Pull Req.</a:t>
            </a:r>
          </a:p>
        </p:txBody>
      </p:sp>
    </p:spTree>
    <p:extLst>
      <p:ext uri="{BB962C8B-B14F-4D97-AF65-F5344CB8AC3E}">
        <p14:creationId xmlns:p14="http://schemas.microsoft.com/office/powerpoint/2010/main" val="286046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9" grpId="0" animBg="1"/>
      <p:bldP spid="4" grpId="0" animBg="1"/>
      <p:bldP spid="5" grpId="0" animBg="1"/>
      <p:bldP spid="15" grpId="0" animBg="1"/>
      <p:bldP spid="16" grpId="0" animBg="1"/>
      <p:bldP spid="11" grpId="0" animBg="1"/>
      <p:bldP spid="14" grpId="0" animBg="1"/>
      <p:bldP spid="17" grpId="0" animBg="1"/>
      <p:bldP spid="18" grpId="0" animBg="1"/>
      <p:bldP spid="19" grpId="0" animBg="1"/>
      <p:bldP spid="19" grpId="1" animBg="1"/>
      <p:bldP spid="20" grpId="0" animBg="1"/>
      <p:bldP spid="21" grpId="0" animBg="1"/>
      <p:bldP spid="22" grpId="0" animBg="1"/>
      <p:bldP spid="2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#9 – Fork a Repo and make a Pull Request</a:t>
            </a:r>
          </a:p>
          <a:p>
            <a:pPr marL="0" indent="0">
              <a:buNone/>
            </a:pPr>
            <a:r>
              <a:rPr lang="en-CA" b="1" dirty="0"/>
              <a:t>- </a:t>
            </a:r>
            <a:r>
              <a:rPr lang="en-CA" dirty="0"/>
              <a:t>Fork the repo I made for this course and add a text file to it. Then, make a pull request!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400783198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b="1" dirty="0"/>
              <a:t>Activity #9 – Fork a Repo and make a Pull Request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Open the link in chat to access the repo I made.</a:t>
            </a:r>
          </a:p>
          <a:p>
            <a:pPr lvl="1"/>
            <a:r>
              <a:rPr lang="en-CA" sz="2000" dirty="0">
                <a:hlinkClick r:id="rId2"/>
              </a:rPr>
              <a:t>https://github.com/ehuan2/IntroToGitHub</a:t>
            </a:r>
            <a:endParaRPr lang="en-CA" sz="2000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Click the “fork” button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Clone your forked copy to your computer and add a text file with one thing you have learned today. Commit the file.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Push the commit to your forked repo.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On the GitHub website. Look at your forked repo and select the “create Pull Request” button</a:t>
            </a:r>
          </a:p>
        </p:txBody>
      </p:sp>
    </p:spTree>
    <p:extLst>
      <p:ext uri="{BB962C8B-B14F-4D97-AF65-F5344CB8AC3E}">
        <p14:creationId xmlns:p14="http://schemas.microsoft.com/office/powerpoint/2010/main" val="1411733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4144A5-D635-27EF-0D6C-7C4C74D501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b="1" dirty="0"/>
              <a:t>Poll #4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What command lets you update your remote repo with local changes?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T/F  - Cloning a repository is the best way to contribute new features to someone else’s repository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T/F – You will always be able to push changes from a cloned repo to the original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What is the advantage of using a Pull Request prior to merging changes from a contributor?</a:t>
            </a:r>
          </a:p>
          <a:p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276014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B4DF8-8157-A817-E78E-9CF61FEE2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FBCBF3-05B0-A06F-287F-1DC7900BFA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Summary</a:t>
            </a:r>
          </a:p>
          <a:p>
            <a:r>
              <a:rPr lang="en-CA" dirty="0"/>
              <a:t>GitHub provides a framework to store and document code</a:t>
            </a:r>
          </a:p>
          <a:p>
            <a:endParaRPr lang="en-CA" dirty="0"/>
          </a:p>
          <a:p>
            <a:r>
              <a:rPr lang="en-CA" dirty="0"/>
              <a:t>Push/Pull commands allow you to transfer commits between local and remote repositories</a:t>
            </a:r>
          </a:p>
          <a:p>
            <a:endParaRPr lang="en-CA" dirty="0"/>
          </a:p>
          <a:p>
            <a:r>
              <a:rPr lang="en-CA" dirty="0"/>
              <a:t>Forks/Pull Requests help manage code contributions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884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D9B2D8-E6A3-7874-FB67-D67BDE3707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Important: </a:t>
            </a:r>
            <a:r>
              <a:rPr lang="en-CA" dirty="0"/>
              <a:t>Using GitHub is </a:t>
            </a:r>
            <a:r>
              <a:rPr lang="en-CA" b="1" dirty="0"/>
              <a:t>NOT</a:t>
            </a:r>
            <a:r>
              <a:rPr lang="en-CA" dirty="0"/>
              <a:t> a replacement for good communication:</a:t>
            </a:r>
          </a:p>
          <a:p>
            <a:r>
              <a:rPr lang="en-CA" dirty="0"/>
              <a:t>Ensures everyone is using the latest version of a file</a:t>
            </a:r>
          </a:p>
          <a:p>
            <a:r>
              <a:rPr lang="en-CA" dirty="0"/>
              <a:t>Helps keep track of what changes were made and by who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Good Practices:</a:t>
            </a:r>
          </a:p>
          <a:p>
            <a:r>
              <a:rPr lang="en-CA" dirty="0"/>
              <a:t>Have certain user(s) in charge of approving Pull Requests</a:t>
            </a:r>
          </a:p>
          <a:p>
            <a:r>
              <a:rPr lang="en-CA" dirty="0"/>
              <a:t>Set a standard format for commit messages</a:t>
            </a:r>
          </a:p>
          <a:p>
            <a:r>
              <a:rPr lang="en-CA" dirty="0"/>
              <a:t>Be descriptive in Pull </a:t>
            </a:r>
            <a:r>
              <a:rPr lang="en-CA"/>
              <a:t>Request comments</a:t>
            </a: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94625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F4A6E-5D75-77B9-9DA7-DC7FB3315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V – Miscellaneous Features</a:t>
            </a:r>
          </a:p>
        </p:txBody>
      </p:sp>
    </p:spTree>
    <p:extLst>
      <p:ext uri="{BB962C8B-B14F-4D97-AF65-F5344CB8AC3E}">
        <p14:creationId xmlns:p14="http://schemas.microsoft.com/office/powerpoint/2010/main" val="262884582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AC6C2-A8D7-6B50-6C5A-E792BACF8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2A71F-980E-0B9C-0918-D5E6B28CB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Using Git on the Command Line</a:t>
            </a:r>
          </a:p>
        </p:txBody>
      </p:sp>
    </p:spTree>
    <p:extLst>
      <p:ext uri="{BB962C8B-B14F-4D97-AF65-F5344CB8AC3E}">
        <p14:creationId xmlns:p14="http://schemas.microsoft.com/office/powerpoint/2010/main" val="11343937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B8F13F-CF54-C9DC-11A5-359C21A68D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Using the Command Line:</a:t>
            </a:r>
          </a:p>
          <a:p>
            <a:r>
              <a:rPr lang="en-CA" dirty="0"/>
              <a:t>Direct interaction with Git</a:t>
            </a:r>
          </a:p>
          <a:p>
            <a:r>
              <a:rPr lang="en-CA" dirty="0"/>
              <a:t>Allows you to use Git on an HPC server (</a:t>
            </a:r>
            <a:r>
              <a:rPr lang="en-CA" dirty="0" err="1"/>
              <a:t>e.g</a:t>
            </a:r>
            <a:r>
              <a:rPr lang="en-CA" dirty="0"/>
              <a:t>: </a:t>
            </a:r>
            <a:r>
              <a:rPr lang="en-CA" dirty="0" err="1"/>
              <a:t>ComputeCanada</a:t>
            </a:r>
            <a:r>
              <a:rPr lang="en-CA" dirty="0"/>
              <a:t>)</a:t>
            </a:r>
          </a:p>
          <a:p>
            <a:r>
              <a:rPr lang="en-CA" dirty="0"/>
              <a:t>Provides more tools than third-party software</a:t>
            </a:r>
          </a:p>
          <a:p>
            <a:pPr marL="0" indent="0">
              <a:buNone/>
            </a:pPr>
            <a:r>
              <a:rPr lang="en-CA" b="1" dirty="0"/>
              <a:t>But:</a:t>
            </a:r>
            <a:endParaRPr lang="en-CA" dirty="0"/>
          </a:p>
          <a:p>
            <a:r>
              <a:rPr lang="en-CA" dirty="0"/>
              <a:t>Can have a steep learning curve depending on experience with UNIX</a:t>
            </a:r>
          </a:p>
        </p:txBody>
      </p:sp>
    </p:spTree>
    <p:extLst>
      <p:ext uri="{BB962C8B-B14F-4D97-AF65-F5344CB8AC3E}">
        <p14:creationId xmlns:p14="http://schemas.microsoft.com/office/powerpoint/2010/main" val="3689358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7000A-0728-91F6-4462-5B8EFE1F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19DF2E-41CB-2BF2-C77E-976DD904E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73" y="1320185"/>
            <a:ext cx="7499277" cy="479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3534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#10 – Initialize Repo with git commands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Open Command Line and switch to Desktop: 		cd Desktop/ 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 new directory: </a:t>
            </a:r>
            <a:r>
              <a:rPr lang="en-CA" dirty="0" err="1"/>
              <a:t>mkdir</a:t>
            </a:r>
            <a:r>
              <a:rPr lang="en-CA" dirty="0"/>
              <a:t> </a:t>
            </a:r>
            <a:r>
              <a:rPr lang="en-CA" dirty="0" err="1"/>
              <a:t>Git_Practice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Initialize git repository: git </a:t>
            </a:r>
            <a:r>
              <a:rPr lang="en-CA" dirty="0" err="1"/>
              <a:t>init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the status of your repository: git status</a:t>
            </a:r>
          </a:p>
        </p:txBody>
      </p:sp>
    </p:spTree>
    <p:extLst>
      <p:ext uri="{BB962C8B-B14F-4D97-AF65-F5344CB8AC3E}">
        <p14:creationId xmlns:p14="http://schemas.microsoft.com/office/powerpoint/2010/main" val="42238531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CA" sz="4000" b="1" dirty="0"/>
              <a:t>Activity #11 – Commit a new file with git commands</a:t>
            </a:r>
          </a:p>
          <a:p>
            <a:pPr marL="0" indent="0">
              <a:buNone/>
            </a:pPr>
            <a:endParaRPr lang="en-CA" sz="3800" b="1" dirty="0"/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Create a new txt file in the repo with vim or through your text editor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From the command line, check your repo status: git status 	              (do you see the new file?)</a:t>
            </a:r>
          </a:p>
          <a:p>
            <a:pPr marL="514350" indent="-514350">
              <a:buFont typeface="+mj-lt"/>
              <a:buAutoNum type="arabicPeriod"/>
            </a:pPr>
            <a:endParaRPr lang="en-CA" sz="3400" dirty="0"/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Stage the new file: git add </a:t>
            </a:r>
            <a:r>
              <a:rPr lang="en-CA" sz="3400" dirty="0" err="1"/>
              <a:t>file_name</a:t>
            </a:r>
            <a:endParaRPr lang="en-CA" sz="3400" dirty="0"/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Check your repo status: git status</a:t>
            </a:r>
          </a:p>
          <a:p>
            <a:pPr marL="514350" indent="-514350">
              <a:buFont typeface="+mj-lt"/>
              <a:buAutoNum type="arabicPeriod"/>
            </a:pPr>
            <a:endParaRPr lang="en-CA" sz="3400" dirty="0"/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Commit the file: git commit </a:t>
            </a:r>
            <a:r>
              <a:rPr lang="en-CA" sz="3400" b="1" dirty="0"/>
              <a:t>–m </a:t>
            </a:r>
            <a:r>
              <a:rPr lang="en-CA" sz="3400" dirty="0"/>
              <a:t>“Commit Message”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Check your repo status: git status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Check your Commit History: git log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Rename your branch: git branch –M main</a:t>
            </a:r>
          </a:p>
        </p:txBody>
      </p:sp>
    </p:spTree>
    <p:extLst>
      <p:ext uri="{BB962C8B-B14F-4D97-AF65-F5344CB8AC3E}">
        <p14:creationId xmlns:p14="http://schemas.microsoft.com/office/powerpoint/2010/main" val="250256603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sz="3000" b="1" dirty="0"/>
              <a:t>Activity #12 – Create a new branch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your current branches: git branch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Create new branch: git branch </a:t>
            </a:r>
            <a:r>
              <a:rPr lang="en-CA" dirty="0" err="1"/>
              <a:t>new_branch_name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your current branches: git branch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Switch to new branch: git checkout </a:t>
            </a:r>
            <a:r>
              <a:rPr lang="en-CA" dirty="0" err="1"/>
              <a:t>new_branch_name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Edit your file and commit it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your commit history: git log</a:t>
            </a:r>
          </a:p>
        </p:txBody>
      </p:sp>
    </p:spTree>
    <p:extLst>
      <p:ext uri="{BB962C8B-B14F-4D97-AF65-F5344CB8AC3E}">
        <p14:creationId xmlns:p14="http://schemas.microsoft.com/office/powerpoint/2010/main" val="207461071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628" y="1449307"/>
            <a:ext cx="8658743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Activity #13.1 – Revert a Modification/Commit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 change to a file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the repo status: git status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Restore the previous version of file: git restore </a:t>
            </a:r>
            <a:r>
              <a:rPr lang="en-CA" dirty="0" err="1"/>
              <a:t>file_name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the change again, but stage it this time: git add </a:t>
            </a:r>
            <a:r>
              <a:rPr lang="en-CA" dirty="0" err="1"/>
              <a:t>file_name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 err="1"/>
              <a:t>Unstage</a:t>
            </a:r>
            <a:r>
              <a:rPr lang="en-CA" dirty="0"/>
              <a:t> the file: git reset </a:t>
            </a:r>
            <a:r>
              <a:rPr lang="en-CA" dirty="0" err="1"/>
              <a:t>file_name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8058041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628" y="1449307"/>
            <a:ext cx="8658743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Activity #13.2 – Revert a Modification/Commit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 change and commit it</a:t>
            </a:r>
          </a:p>
          <a:p>
            <a:pPr marL="971438" lvl="1" indent="-514350">
              <a:buFont typeface="+mj-lt"/>
              <a:buAutoNum type="arabicPeriod"/>
            </a:pPr>
            <a:r>
              <a:rPr lang="en-CA" dirty="0"/>
              <a:t>git add </a:t>
            </a:r>
            <a:r>
              <a:rPr lang="en-CA" dirty="0" err="1"/>
              <a:t>file_name</a:t>
            </a:r>
            <a:endParaRPr lang="en-CA" dirty="0"/>
          </a:p>
          <a:p>
            <a:pPr marL="971438" lvl="1" indent="-514350">
              <a:buFont typeface="+mj-lt"/>
              <a:buAutoNum type="arabicPeriod"/>
            </a:pPr>
            <a:r>
              <a:rPr lang="en-CA" dirty="0"/>
              <a:t>git commit –m “commit message” </a:t>
            </a:r>
          </a:p>
          <a:p>
            <a:pPr marL="971438" lvl="1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Get the commit ID from your commit history: git log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Revert your current commit: git revert </a:t>
            </a:r>
            <a:r>
              <a:rPr lang="en-CA" dirty="0" err="1"/>
              <a:t>commit_id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your file: have the changes been reverted?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4883489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b="1" dirty="0"/>
              <a:t>Activity #14.1 – Push to Remote Repository</a:t>
            </a:r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On the GitHub website, click on your profile in the top right corner and select “settings”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Select “Developer settings” at the bottom of the page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Under the “Personal access tokens” menu, click generate new token.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Select the “repo” scope and generate token.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SAVE the token somewhere (or you will have to make a new one)</a:t>
            </a:r>
          </a:p>
        </p:txBody>
      </p:sp>
    </p:spTree>
    <p:extLst>
      <p:ext uri="{BB962C8B-B14F-4D97-AF65-F5344CB8AC3E}">
        <p14:creationId xmlns:p14="http://schemas.microsoft.com/office/powerpoint/2010/main" val="253605425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#14.2 – Push to Remote Repository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On the GitHub website, create a new repository</a:t>
            </a:r>
          </a:p>
          <a:p>
            <a:pPr marL="971438" lvl="1" indent="-514350">
              <a:buFont typeface="+mj-lt"/>
              <a:buAutoNum type="arabicPeriod"/>
            </a:pPr>
            <a:r>
              <a:rPr lang="en-CA" dirty="0"/>
              <a:t>Do NOT create a README file</a:t>
            </a:r>
          </a:p>
          <a:p>
            <a:pPr marL="971438" lvl="1" indent="-514350">
              <a:buFont typeface="+mj-lt"/>
              <a:buAutoNum type="arabicPeriod"/>
            </a:pPr>
            <a:r>
              <a:rPr lang="en-CA" dirty="0"/>
              <a:t>Copy paste the repo’s URL</a:t>
            </a:r>
          </a:p>
          <a:p>
            <a:pPr marL="971438" lvl="1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In the command line, link your local and remote repo:	git remote add origin URL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Push your main branch: git push -u origin main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your remote repo: are the files there?</a:t>
            </a:r>
          </a:p>
        </p:txBody>
      </p:sp>
    </p:spTree>
    <p:extLst>
      <p:ext uri="{BB962C8B-B14F-4D97-AF65-F5344CB8AC3E}">
        <p14:creationId xmlns:p14="http://schemas.microsoft.com/office/powerpoint/2010/main" val="426843825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3B343-8AB0-44FB-3E33-580BF4109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VII  –  Conclusion</a:t>
            </a:r>
          </a:p>
        </p:txBody>
      </p:sp>
    </p:spTree>
    <p:extLst>
      <p:ext uri="{BB962C8B-B14F-4D97-AF65-F5344CB8AC3E}">
        <p14:creationId xmlns:p14="http://schemas.microsoft.com/office/powerpoint/2010/main" val="98055390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D8EFDB-45D2-9A4A-6FA9-789D807BF0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What have we learned?</a:t>
            </a:r>
            <a:endParaRPr lang="en-CA" dirty="0"/>
          </a:p>
          <a:p>
            <a:r>
              <a:rPr lang="en-CA" dirty="0"/>
              <a:t>What VCS, Git, and GitHub are</a:t>
            </a:r>
          </a:p>
          <a:p>
            <a:endParaRPr lang="en-CA" dirty="0"/>
          </a:p>
          <a:p>
            <a:r>
              <a:rPr lang="en-CA" dirty="0"/>
              <a:t>Why they are so useful</a:t>
            </a:r>
          </a:p>
          <a:p>
            <a:endParaRPr lang="en-CA" dirty="0"/>
          </a:p>
          <a:p>
            <a:r>
              <a:rPr lang="en-CA" dirty="0"/>
              <a:t>How to undertake basic tasks in a local and remote repository</a:t>
            </a:r>
          </a:p>
          <a:p>
            <a:endParaRPr lang="en-CA" dirty="0"/>
          </a:p>
          <a:p>
            <a:r>
              <a:rPr lang="en-CA" dirty="0"/>
              <a:t>How services like GitHub improve code collaboration and Open Science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372AD7-7FF9-4273-8F53-305A22A63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670" y="1131570"/>
            <a:ext cx="2640330" cy="264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68430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6A319F-99F6-E37E-4837-F8D349D874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What next?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Practice makes perfect!</a:t>
            </a:r>
          </a:p>
          <a:p>
            <a:pPr lvl="1"/>
            <a:r>
              <a:rPr lang="en-CA" dirty="0"/>
              <a:t>Track your hobby projects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Track your research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Use open-access code or software from publications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Consider trying Git on the command line</a:t>
            </a:r>
          </a:p>
        </p:txBody>
      </p:sp>
    </p:spTree>
    <p:extLst>
      <p:ext uri="{BB962C8B-B14F-4D97-AF65-F5344CB8AC3E}">
        <p14:creationId xmlns:p14="http://schemas.microsoft.com/office/powerpoint/2010/main" val="89008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032C4E-FC2C-F600-2AEE-9F77571315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164979"/>
            <a:ext cx="8658743" cy="4924350"/>
          </a:xfrm>
        </p:spPr>
        <p:txBody>
          <a:bodyPr/>
          <a:lstStyle/>
          <a:p>
            <a:pPr marL="0" indent="0" algn="ctr">
              <a:buNone/>
            </a:pPr>
            <a:r>
              <a:rPr lang="en-CA" dirty="0"/>
              <a:t>Workshop Feedback QR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DD344B-456E-431E-EA68-79C3E139FD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42" t="6338" r="6528" b="6326"/>
          <a:stretch>
            <a:fillRect/>
          </a:stretch>
        </p:blipFill>
        <p:spPr>
          <a:xfrm>
            <a:off x="2416628" y="1639409"/>
            <a:ext cx="4310743" cy="435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57244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362877-EC0E-5809-5772-B43E9A4389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Image Sources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>
                <a:hlinkClick r:id="rId2"/>
              </a:rPr>
              <a:t>https://betterexplained.com/articles/a-visual-guide-to-version-control/</a:t>
            </a:r>
            <a:r>
              <a:rPr lang="en-CA" dirty="0"/>
              <a:t> </a:t>
            </a:r>
          </a:p>
          <a:p>
            <a:pPr marL="0" indent="0">
              <a:buNone/>
            </a:pPr>
            <a:r>
              <a:rPr lang="en-CA" dirty="0">
                <a:hlinkClick r:id="rId3"/>
              </a:rPr>
              <a:t>https://github.com/torvalds</a:t>
            </a:r>
            <a:r>
              <a:rPr lang="en-CA" dirty="0"/>
              <a:t> </a:t>
            </a:r>
          </a:p>
          <a:p>
            <a:pPr marL="0" indent="0">
              <a:buNone/>
            </a:pPr>
            <a:r>
              <a:rPr lang="en-CA" dirty="0">
                <a:hlinkClick r:id="rId4"/>
              </a:rPr>
              <a:t>https://github.com/gitster</a:t>
            </a:r>
            <a:r>
              <a:rPr lang="en-CA" dirty="0"/>
              <a:t> </a:t>
            </a:r>
          </a:p>
          <a:p>
            <a:pPr marL="0" indent="0">
              <a:buNone/>
            </a:pPr>
            <a:r>
              <a:rPr lang="en-CA" dirty="0">
                <a:hlinkClick r:id="rId5"/>
              </a:rPr>
              <a:t>https://github.com/qw3rtman/git-fire</a:t>
            </a:r>
            <a:r>
              <a:rPr lang="en-CA" dirty="0"/>
              <a:t> </a:t>
            </a:r>
          </a:p>
          <a:p>
            <a:pPr marL="0" indent="0">
              <a:buNone/>
            </a:pPr>
            <a:r>
              <a:rPr lang="en-CA" dirty="0">
                <a:hlinkClick r:id="rId6"/>
              </a:rPr>
              <a:t>https://walkingrandomly.com/?p=6653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1210127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CM_workshop_Template_S2022" id="{41F71B10-D91A-4222-B463-5B445B3BD3C4}" vid="{071920C6-E7E6-4BE5-B55D-49846ED885B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MiCM Workshop PPT Slides Template [Fall 2024]</Template>
  <TotalTime>13727</TotalTime>
  <Words>3632</Words>
  <Application>Microsoft Office PowerPoint</Application>
  <PresentationFormat>On-screen Show (4:3)</PresentationFormat>
  <Paragraphs>698</Paragraphs>
  <Slides>85</Slides>
  <Notes>24</Notes>
  <HiddenSlides>9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1" baseType="lpstr">
      <vt:lpstr>Arial</vt:lpstr>
      <vt:lpstr>Calibri</vt:lpstr>
      <vt:lpstr>Calibri Light</vt:lpstr>
      <vt:lpstr>Open Sans Light</vt:lpstr>
      <vt:lpstr>Wingdings</vt:lpstr>
      <vt:lpstr>Thème Office</vt:lpstr>
      <vt:lpstr>Introduction to Git and GitHub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II – Basic Git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III – Advanced Git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IV – Hosting Projects on GitHub</vt:lpstr>
      <vt:lpstr>GitHub Interface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V – Miscellaneous Features</vt:lpstr>
      <vt:lpstr>Using Git on the Command 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VII  –  Conclusion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Eric Huang</cp:lastModifiedBy>
  <cp:revision>43</cp:revision>
  <dcterms:created xsi:type="dcterms:W3CDTF">2019-07-29T14:54:16Z</dcterms:created>
  <dcterms:modified xsi:type="dcterms:W3CDTF">2026-09-21T16:42:53Z</dcterms:modified>
</cp:coreProperties>
</file>